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00:00–00:20
“Hi, and welcome. In this lesson, we’re going to understand .NET and WPF through one realistic application: SecureExamClient. We’ll connect every major interview topic to a situation you can actually picture.”
Delivery: welcoming, gentle smile in the voice; pause after “SecureExamClient.”
[Sources]
Visual on this slide was generated with Microsoft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00:20–00:50
“Imagine a candidate opening a Windows application before an online exam. The app signs them in, checks the computer, connects securely to the server, and opens the exam in an embedded browser. That one story gives us WPF, MVVM, threading, CefSharp, Windows integration, security, testing, and deployment.”
[Sources]
Visual on this slide was generated with Microsoft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00:50–01:25
“WPF stands for Windows Presentation Foundation. We use XAML to describe the screen, and C# to provide application behavior. Notice that the text box is bound to CandidateId, and the button is bound to StartExamCommand. We are connecting the interface to application state instead of manually pulling values from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01:25–02:00
“MVVM means Model, View, and ViewModel. The View is what the candidate sees. The ViewModel exposes screen data and commands. Services handle work such as API communication and system checks. The Model represents application data. The real benefit is separation: the screen does not need to understand networking, and the network service does not need to understand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02:00–02:35
“Here’s the key idea. If the ViewModel changes Status from ‘Checking system’ to ‘Exam Ready,’ the screen needs to hear about that change. INotifyPropertyChanged provides that signal to WPF’s binding system. A strong interview answer is simple: it notifies bindings when a ViewModel property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02:35–03:05
“Commands represent user actions. Execute tells us what should happen. CanExecute tells us whether the action should be available right now. In our example, Start Exam stays disabled until the candidate ID is valid and system checks have passed. That is much more meaningful than memorizing the ICommand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03:05–03:35
“Now imagine the candidate selects Start Exam, and the whole window freezes. The application is checking devices, downloading configuration, and starting the browser on a long synchronous path. The UI thread is too busy to process interaction. This is the practical reason we care about asynchronous design in WPF.”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03:35–04:15
“Async and await help us express non-blocking workflows clearly. While an I/O operation is waiting, we do not want to block the UI unnecessarily. And remember this interview point: a Task represents asynchronous work. It does not automatically mean a dedicated new thread. Task.Run is mainly relevant when we intentionally move suitable CPU-bound synchronous work to the thread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04:15–04:55
“Suppose a background check finishes and we want to display ‘Exam Ready.’ WPF UI objects are associated with their UI thread, so arbitrary background code should not directly update them. The Dispatcher is the safe bridge. Think of it as asking WPF to perform this UI work on the correct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04:55–05:35
“Desktop software sometimes needs native Windows capabilities. P/Invoke allows managed C# to call compatible exported functions from Win32 or C and C++ libraries. At the boundary, pay attention to marshaling, IntPtr, calling conventions, memory ownership, and architecture. A 64-bit WPF process cannot simply load an incompatible 32-bit native DLL.”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05:35–06:05
“A Windows Service can own responsibilities that should not depend on the window staying open. The WPF client can communicate with it through local IPC, such as a named pipe. In our story, the client asks the service to run an environment validation, and the service returns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06:05–06:45
“CefSharp brings Chromium-based browser functionality into a .NET desktop application. Our exam page can open inside the WPF experience instead of an external browser. But browser callbacks may arrive away from the WPF UI thread, so we connect this topic back to the Dispatcher before updating bound UI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06:45–07:25
“When the client connects over HTTPS, TLS protects the HTTP conversation. At a high level, the client and server negotiate, the server presents its certificate, the client validates the certificate and identity, and cryptographic keys protect the later traffic. In code, HttpClient handles the request, while we still design for cancellation, timeouts, and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07:25–07:55
“Security terms solve different problems. AES encryption protects confidentiality and is reversible with the key. SHA-256 produces a one-way digest. A digital signature supports integrity and authenticity. At the Windows layer, also revise access tokens, SIDs, ACLs, UAC, privileges, and service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07:55–08:15
“MVVM also helps testing because ViewModel behavior can be verified without opening a physical window. The delivery path then moves through Git, automated build and tests, WiX packaging, and an MSI installer. Desktop engineering includes the entire path from code to reliable 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&amp; NARRATION
08:15–08:20
“Remember the story, not just the definitions. Once you understand why each component exists, your answers become much more confident and natural.”
Delivery: slow down; warm closure; let the final frame hold for two seconds.
[Sources]
Visual on this slide was generated with Microsoft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6C6DA"/>
          </a:solidFill>
          <a:ln w="12700">
            <a:solidFill>
              <a:srgbClr val="26C6DA"/>
            </a:solidFill>
            <a:prstDash val="solid"/>
          </a:ln>
        </p:spPr>
      </p:sp>
      <p:sp>
        <p:nvSpPr>
          <p:cNvPr id="3" name="Text 1"/>
          <p:cNvSpPr/>
          <p:nvPr/>
        </p:nvSpPr>
        <p:spPr>
          <a:xfrm>
            <a:off x="502920" y="182880"/>
            <a:ext cx="6400800" cy="228600"/>
          </a:xfrm>
          <a:prstGeom prst="rect">
            <a:avLst/>
          </a:prstGeom>
          <a:noFill/>
          <a:ln/>
        </p:spPr>
        <p:txBody>
          <a:bodyPr wrap="square" rtlCol="0" anchor="ctr"/>
          <a:lstStyle/>
          <a:p>
            <a:pPr indent="0" marL="0">
              <a:buNone/>
            </a:pPr>
            <a:r>
              <a:rPr lang="en-US" sz="900" b="1" spc="110" kern="0" dirty="0">
                <a:solidFill>
                  <a:srgbClr val="5C6B7A"/>
                </a:solidFill>
                <a:latin typeface="Aptos" pitchFamily="34" charset="0"/>
                <a:ea typeface="Aptos" pitchFamily="34" charset="-122"/>
                <a:cs typeface="Aptos" pitchFamily="34" charset="-120"/>
              </a:rPr>
              <a:t>SECUREEXAMCLIENT  •  VIDEO STORYBOARD</a:t>
            </a:r>
            <a:endParaRPr lang="en-US" sz="900" dirty="0"/>
          </a:p>
        </p:txBody>
      </p:sp>
      <p:sp>
        <p:nvSpPr>
          <p:cNvPr id="4" name="Text 2"/>
          <p:cNvSpPr/>
          <p:nvPr/>
        </p:nvSpPr>
        <p:spPr>
          <a:xfrm>
            <a:off x="7498080" y="182880"/>
            <a:ext cx="4160520" cy="228600"/>
          </a:xfrm>
          <a:prstGeom prst="rect">
            <a:avLst/>
          </a:prstGeom>
          <a:noFill/>
          <a:ln/>
        </p:spPr>
        <p:txBody>
          <a:bodyPr wrap="square" rtlCol="0" anchor="ctr"/>
          <a:lstStyle/>
          <a:p>
            <a:pPr algn="r" indent="0" marL="0">
              <a:buNone/>
            </a:pPr>
            <a:r>
              <a:rPr lang="en-US" sz="900" dirty="0">
                <a:solidFill>
                  <a:srgbClr val="5C6B7A"/>
                </a:solidFill>
                <a:latin typeface="Aptos" pitchFamily="34" charset="0"/>
                <a:ea typeface="Aptos" pitchFamily="34" charset="-122"/>
                <a:cs typeface="Aptos" pitchFamily="34" charset="-120"/>
              </a:rPr>
              <a:t>Female voice • warm • conversational • medium-slow</a:t>
            </a:r>
            <a:endParaRPr lang="en-US" sz="90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3"/>
        </a:solidFill>
      </p:bgPr>
    </p:bg>
    <p:spTree>
      <p:nvGrpSpPr>
        <p:cNvPr id="1" name=""/>
        <p:cNvGrpSpPr/>
        <p:nvPr/>
      </p:nvGrpSpPr>
      <p:grpSpPr>
        <a:xfrm>
          <a:off x="0" y="0"/>
          <a:ext cx="1" cy="1"/>
          <a:chOff x="0" y="0"/>
          <a:chExt cx="1" cy="1"/>
        </a:xfrm>
      </p:grpSpPr>
      <p:pic>
        <p:nvPicPr>
          <p:cNvPr id="2" name="Image 0" descr="/mnt/data/generated_image_5B039C001BE4_02.png">    </p:cNvPr>
          <p:cNvPicPr>
            <a:picLocks noChangeAspect="1"/>
          </p:cNvPicPr>
          <p:nvPr/>
        </p:nvPicPr>
        <p:blipFill>
          <a:blip r:embed="rId1">
            <a:alphaModFix amt="75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623">
              <a:alpha val="58000"/>
            </a:srgbClr>
          </a:solidFill>
          <a:ln w="12700">
            <a:solidFill>
              <a:srgbClr val="0B1623">
                <a:alpha val="0"/>
              </a:srgbClr>
            </a:solidFill>
            <a:prstDash val="solid"/>
          </a:ln>
        </p:spPr>
      </p:sp>
      <p:sp>
        <p:nvSpPr>
          <p:cNvPr id="4" name="Text 1"/>
          <p:cNvSpPr/>
          <p:nvPr/>
        </p:nvSpPr>
        <p:spPr>
          <a:xfrm>
            <a:off x="640080" y="1143000"/>
            <a:ext cx="5943600" cy="777240"/>
          </a:xfrm>
          <a:prstGeom prst="rect">
            <a:avLst/>
          </a:prstGeom>
          <a:noFill/>
          <a:ln/>
        </p:spPr>
        <p:txBody>
          <a:bodyPr wrap="square" lIns="0" tIns="0" rIns="0" bIns="0" rtlCol="0" anchor="ctr"/>
          <a:lstStyle/>
          <a:p>
            <a:pPr indent="0" marL="0">
              <a:buNone/>
            </a:pPr>
            <a:r>
              <a:rPr lang="en-US" sz="3900" b="1" dirty="0">
                <a:solidFill>
                  <a:srgbClr val="FFFFFF"/>
                </a:solidFill>
              </a:rPr>
              <a:t>.NET + WPF</a:t>
            </a:r>
            <a:endParaRPr lang="en-US" sz="3900" dirty="0"/>
          </a:p>
        </p:txBody>
      </p:sp>
      <p:sp>
        <p:nvSpPr>
          <p:cNvPr id="5" name="Text 2"/>
          <p:cNvSpPr/>
          <p:nvPr/>
        </p:nvSpPr>
        <p:spPr>
          <a:xfrm>
            <a:off x="640080" y="1938528"/>
            <a:ext cx="6217920" cy="640080"/>
          </a:xfrm>
          <a:prstGeom prst="rect">
            <a:avLst/>
          </a:prstGeom>
          <a:noFill/>
          <a:ln/>
        </p:spPr>
        <p:txBody>
          <a:bodyPr wrap="square" lIns="0" tIns="0" rIns="0" bIns="0" rtlCol="0" anchor="ctr"/>
          <a:lstStyle/>
          <a:p>
            <a:pPr indent="0" marL="0">
              <a:buNone/>
            </a:pPr>
            <a:r>
              <a:rPr lang="en-US" sz="3000" b="1" dirty="0">
                <a:solidFill>
                  <a:srgbClr val="26C6DA"/>
                </a:solidFill>
              </a:rPr>
              <a:t>SecureExamClient</a:t>
            </a:r>
            <a:endParaRPr lang="en-US" sz="3000" dirty="0"/>
          </a:p>
        </p:txBody>
      </p:sp>
      <p:sp>
        <p:nvSpPr>
          <p:cNvPr id="6" name="Text 3"/>
          <p:cNvSpPr/>
          <p:nvPr/>
        </p:nvSpPr>
        <p:spPr>
          <a:xfrm>
            <a:off x="667512" y="2761488"/>
            <a:ext cx="5303520" cy="365760"/>
          </a:xfrm>
          <a:prstGeom prst="rect">
            <a:avLst/>
          </a:prstGeom>
          <a:noFill/>
          <a:ln/>
        </p:spPr>
        <p:txBody>
          <a:bodyPr wrap="square" lIns="0" tIns="0" rIns="0" bIns="0" rtlCol="0" anchor="ctr"/>
          <a:lstStyle/>
          <a:p>
            <a:pPr indent="0" marL="0">
              <a:buNone/>
            </a:pPr>
            <a:r>
              <a:rPr lang="en-US" sz="1700" dirty="0">
                <a:solidFill>
                  <a:srgbClr val="D8E6F3"/>
                </a:solidFill>
              </a:rPr>
              <a:t>Video visuals + narration timing</a:t>
            </a:r>
            <a:endParaRPr lang="en-US" sz="1700" dirty="0"/>
          </a:p>
        </p:txBody>
      </p:sp>
      <p:sp>
        <p:nvSpPr>
          <p:cNvPr id="7" name="Text 4"/>
          <p:cNvSpPr/>
          <p:nvPr/>
        </p:nvSpPr>
        <p:spPr>
          <a:xfrm>
            <a:off x="667512" y="5285232"/>
            <a:ext cx="3566160" cy="320040"/>
          </a:xfrm>
          <a:prstGeom prst="rect">
            <a:avLst/>
          </a:prstGeom>
          <a:noFill/>
          <a:ln/>
        </p:spPr>
        <p:txBody>
          <a:bodyPr wrap="square" lIns="0" tIns="0" rIns="0" bIns="0" rtlCol="0" anchor="ctr"/>
          <a:lstStyle/>
          <a:p>
            <a:pPr indent="0" marL="0">
              <a:buNone/>
            </a:pPr>
            <a:r>
              <a:rPr lang="en-US" sz="1400" b="1" dirty="0">
                <a:solidFill>
                  <a:srgbClr val="FFFFFF"/>
                </a:solidFill>
              </a:rPr>
              <a:t>Target runtime  •  8 min 20 sec</a:t>
            </a:r>
            <a:endParaRPr lang="en-US" sz="1400" dirty="0"/>
          </a:p>
        </p:txBody>
      </p:sp>
      <p:sp>
        <p:nvSpPr>
          <p:cNvPr id="8" name="Text 5"/>
          <p:cNvSpPr/>
          <p:nvPr/>
        </p:nvSpPr>
        <p:spPr>
          <a:xfrm>
            <a:off x="667512" y="5650992"/>
            <a:ext cx="6126480" cy="320040"/>
          </a:xfrm>
          <a:prstGeom prst="rect">
            <a:avLst/>
          </a:prstGeom>
          <a:noFill/>
          <a:ln/>
        </p:spPr>
        <p:txBody>
          <a:bodyPr wrap="square" lIns="0" tIns="0" rIns="0" bIns="0" rtlCol="0" anchor="ctr"/>
          <a:lstStyle/>
          <a:p>
            <a:pPr indent="0" marL="0">
              <a:buNone/>
            </a:pPr>
            <a:r>
              <a:rPr lang="en-US" sz="1300" dirty="0">
                <a:solidFill>
                  <a:srgbClr val="D8E6F3"/>
                </a:solidFill>
              </a:rPr>
              <a:t>Voice direction  •  warm female instructor  •  medium-slow pace</a:t>
            </a:r>
            <a:endParaRPr lang="en-US" sz="130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02</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Meet the application</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One connected scenario replaces isolated definitions.</a:t>
            </a:r>
            <a:endParaRPr lang="en-US" sz="1350" dirty="0"/>
          </a:p>
        </p:txBody>
      </p:sp>
      <p:pic>
        <p:nvPicPr>
          <p:cNvPr id="5" name="Image 0" descr="/mnt/data/generated_image_5B039C001BE4_01.png">    </p:cNvPr>
          <p:cNvPicPr>
            <a:picLocks noChangeAspect="1"/>
          </p:cNvPicPr>
          <p:nvPr/>
        </p:nvPicPr>
        <p:blipFill>
          <a:blip r:embed="rId1"/>
          <a:stretch>
            <a:fillRect/>
          </a:stretch>
        </p:blipFill>
        <p:spPr>
          <a:xfrm>
            <a:off x="502920" y="1975104"/>
            <a:ext cx="5440680" cy="3611880"/>
          </a:xfrm>
          <a:prstGeom prst="rect">
            <a:avLst/>
          </a:prstGeom>
        </p:spPr>
      </p:pic>
      <p:sp>
        <p:nvSpPr>
          <p:cNvPr id="6" name="Shape 3"/>
          <p:cNvSpPr/>
          <p:nvPr/>
        </p:nvSpPr>
        <p:spPr>
          <a:xfrm>
            <a:off x="6309360" y="2029968"/>
            <a:ext cx="4754880" cy="566928"/>
          </a:xfrm>
          <a:prstGeom prst="roundRect">
            <a:avLst>
              <a:gd name="adj" fmla="val 9677"/>
            </a:avLst>
          </a:prstGeom>
          <a:solidFill>
            <a:srgbClr val="EAF2FF"/>
          </a:solidFill>
          <a:ln w="12700">
            <a:solidFill>
              <a:srgbClr val="1677FF"/>
            </a:solidFill>
            <a:prstDash val="solid"/>
          </a:ln>
        </p:spPr>
      </p:sp>
      <p:sp>
        <p:nvSpPr>
          <p:cNvPr id="7" name="Text 4"/>
          <p:cNvSpPr/>
          <p:nvPr/>
        </p:nvSpPr>
        <p:spPr>
          <a:xfrm>
            <a:off x="6473952" y="2185416"/>
            <a:ext cx="256032" cy="182880"/>
          </a:xfrm>
          <a:prstGeom prst="rect">
            <a:avLst/>
          </a:prstGeom>
          <a:noFill/>
          <a:ln/>
        </p:spPr>
        <p:txBody>
          <a:bodyPr wrap="square" lIns="0" tIns="0" rIns="0" bIns="0" rtlCol="0" anchor="ctr"/>
          <a:lstStyle/>
          <a:p>
            <a:pPr algn="ctr" indent="0" marL="0">
              <a:buNone/>
            </a:pPr>
            <a:r>
              <a:rPr lang="en-US" sz="1100" b="1" dirty="0">
                <a:solidFill>
                  <a:srgbClr val="1677FF"/>
                </a:solidFill>
              </a:rPr>
              <a:t>1</a:t>
            </a:r>
            <a:endParaRPr lang="en-US" sz="1100" dirty="0"/>
          </a:p>
        </p:txBody>
      </p:sp>
      <p:sp>
        <p:nvSpPr>
          <p:cNvPr id="8" name="Text 5"/>
          <p:cNvSpPr/>
          <p:nvPr/>
        </p:nvSpPr>
        <p:spPr>
          <a:xfrm>
            <a:off x="6876288" y="2139696"/>
            <a:ext cx="3749040" cy="228600"/>
          </a:xfrm>
          <a:prstGeom prst="rect">
            <a:avLst/>
          </a:prstGeom>
          <a:noFill/>
          <a:ln/>
        </p:spPr>
        <p:txBody>
          <a:bodyPr wrap="square" lIns="0" tIns="0" rIns="0" bIns="0" rtlCol="0" anchor="ctr"/>
          <a:lstStyle/>
          <a:p>
            <a:pPr indent="0" marL="0">
              <a:buNone/>
            </a:pPr>
            <a:r>
              <a:rPr lang="en-US" sz="1500" b="1" dirty="0">
                <a:solidFill>
                  <a:srgbClr val="23374D"/>
                </a:solidFill>
              </a:rPr>
              <a:t>Candidate signs in</a:t>
            </a:r>
            <a:endParaRPr lang="en-US" sz="1500" dirty="0"/>
          </a:p>
        </p:txBody>
      </p:sp>
      <p:sp>
        <p:nvSpPr>
          <p:cNvPr id="9" name="Shape 6"/>
          <p:cNvSpPr/>
          <p:nvPr/>
        </p:nvSpPr>
        <p:spPr>
          <a:xfrm>
            <a:off x="6309360" y="2834640"/>
            <a:ext cx="4754880" cy="566928"/>
          </a:xfrm>
          <a:prstGeom prst="roundRect">
            <a:avLst>
              <a:gd name="adj" fmla="val 9677"/>
            </a:avLst>
          </a:prstGeom>
          <a:solidFill>
            <a:srgbClr val="EAF2FF"/>
          </a:solidFill>
          <a:ln w="12700">
            <a:solidFill>
              <a:srgbClr val="1677FF"/>
            </a:solidFill>
            <a:prstDash val="solid"/>
          </a:ln>
        </p:spPr>
      </p:sp>
      <p:sp>
        <p:nvSpPr>
          <p:cNvPr id="10" name="Text 7"/>
          <p:cNvSpPr/>
          <p:nvPr/>
        </p:nvSpPr>
        <p:spPr>
          <a:xfrm>
            <a:off x="6473952" y="2990088"/>
            <a:ext cx="256032" cy="182880"/>
          </a:xfrm>
          <a:prstGeom prst="rect">
            <a:avLst/>
          </a:prstGeom>
          <a:noFill/>
          <a:ln/>
        </p:spPr>
        <p:txBody>
          <a:bodyPr wrap="square" lIns="0" tIns="0" rIns="0" bIns="0" rtlCol="0" anchor="ctr"/>
          <a:lstStyle/>
          <a:p>
            <a:pPr algn="ctr" indent="0" marL="0">
              <a:buNone/>
            </a:pPr>
            <a:r>
              <a:rPr lang="en-US" sz="1100" b="1" dirty="0">
                <a:solidFill>
                  <a:srgbClr val="1677FF"/>
                </a:solidFill>
              </a:rPr>
              <a:t>2</a:t>
            </a:r>
            <a:endParaRPr lang="en-US" sz="1100" dirty="0"/>
          </a:p>
        </p:txBody>
      </p:sp>
      <p:sp>
        <p:nvSpPr>
          <p:cNvPr id="11" name="Text 8"/>
          <p:cNvSpPr/>
          <p:nvPr/>
        </p:nvSpPr>
        <p:spPr>
          <a:xfrm>
            <a:off x="6876288" y="2944368"/>
            <a:ext cx="3749040" cy="228600"/>
          </a:xfrm>
          <a:prstGeom prst="rect">
            <a:avLst/>
          </a:prstGeom>
          <a:noFill/>
          <a:ln/>
        </p:spPr>
        <p:txBody>
          <a:bodyPr wrap="square" lIns="0" tIns="0" rIns="0" bIns="0" rtlCol="0" anchor="ctr"/>
          <a:lstStyle/>
          <a:p>
            <a:pPr indent="0" marL="0">
              <a:buNone/>
            </a:pPr>
            <a:r>
              <a:rPr lang="en-US" sz="1500" b="1" dirty="0">
                <a:solidFill>
                  <a:srgbClr val="23374D"/>
                </a:solidFill>
              </a:rPr>
              <a:t>System checks run</a:t>
            </a:r>
            <a:endParaRPr lang="en-US" sz="1500" dirty="0"/>
          </a:p>
        </p:txBody>
      </p:sp>
      <p:sp>
        <p:nvSpPr>
          <p:cNvPr id="12" name="Shape 9"/>
          <p:cNvSpPr/>
          <p:nvPr/>
        </p:nvSpPr>
        <p:spPr>
          <a:xfrm>
            <a:off x="6309360" y="3639312"/>
            <a:ext cx="4754880" cy="566928"/>
          </a:xfrm>
          <a:prstGeom prst="roundRect">
            <a:avLst>
              <a:gd name="adj" fmla="val 9677"/>
            </a:avLst>
          </a:prstGeom>
          <a:solidFill>
            <a:srgbClr val="EAF2FF"/>
          </a:solidFill>
          <a:ln w="12700">
            <a:solidFill>
              <a:srgbClr val="1677FF"/>
            </a:solidFill>
            <a:prstDash val="solid"/>
          </a:ln>
        </p:spPr>
      </p:sp>
      <p:sp>
        <p:nvSpPr>
          <p:cNvPr id="13" name="Text 10"/>
          <p:cNvSpPr/>
          <p:nvPr/>
        </p:nvSpPr>
        <p:spPr>
          <a:xfrm>
            <a:off x="6473952" y="3794760"/>
            <a:ext cx="256032" cy="182880"/>
          </a:xfrm>
          <a:prstGeom prst="rect">
            <a:avLst/>
          </a:prstGeom>
          <a:noFill/>
          <a:ln/>
        </p:spPr>
        <p:txBody>
          <a:bodyPr wrap="square" lIns="0" tIns="0" rIns="0" bIns="0" rtlCol="0" anchor="ctr"/>
          <a:lstStyle/>
          <a:p>
            <a:pPr algn="ctr" indent="0" marL="0">
              <a:buNone/>
            </a:pPr>
            <a:r>
              <a:rPr lang="en-US" sz="1100" b="1" dirty="0">
                <a:solidFill>
                  <a:srgbClr val="1677FF"/>
                </a:solidFill>
              </a:rPr>
              <a:t>3</a:t>
            </a:r>
            <a:endParaRPr lang="en-US" sz="1100" dirty="0"/>
          </a:p>
        </p:txBody>
      </p:sp>
      <p:sp>
        <p:nvSpPr>
          <p:cNvPr id="14" name="Text 11"/>
          <p:cNvSpPr/>
          <p:nvPr/>
        </p:nvSpPr>
        <p:spPr>
          <a:xfrm>
            <a:off x="6876288" y="3749040"/>
            <a:ext cx="3749040" cy="228600"/>
          </a:xfrm>
          <a:prstGeom prst="rect">
            <a:avLst/>
          </a:prstGeom>
          <a:noFill/>
          <a:ln/>
        </p:spPr>
        <p:txBody>
          <a:bodyPr wrap="square" lIns="0" tIns="0" rIns="0" bIns="0" rtlCol="0" anchor="ctr"/>
          <a:lstStyle/>
          <a:p>
            <a:pPr indent="0" marL="0">
              <a:buNone/>
            </a:pPr>
            <a:r>
              <a:rPr lang="en-US" sz="1500" b="1" dirty="0">
                <a:solidFill>
                  <a:srgbClr val="23374D"/>
                </a:solidFill>
              </a:rPr>
              <a:t>Exam page opens</a:t>
            </a:r>
            <a:endParaRPr lang="en-US" sz="1500" dirty="0"/>
          </a:p>
        </p:txBody>
      </p:sp>
      <p:sp>
        <p:nvSpPr>
          <p:cNvPr id="15" name="Shape 12"/>
          <p:cNvSpPr/>
          <p:nvPr/>
        </p:nvSpPr>
        <p:spPr>
          <a:xfrm>
            <a:off x="6309360" y="4443984"/>
            <a:ext cx="4754880" cy="566928"/>
          </a:xfrm>
          <a:prstGeom prst="roundRect">
            <a:avLst>
              <a:gd name="adj" fmla="val 9677"/>
            </a:avLst>
          </a:prstGeom>
          <a:solidFill>
            <a:srgbClr val="DDF8F2"/>
          </a:solidFill>
          <a:ln w="12700">
            <a:solidFill>
              <a:srgbClr val="16A085"/>
            </a:solidFill>
            <a:prstDash val="solid"/>
          </a:ln>
        </p:spPr>
      </p:sp>
      <p:sp>
        <p:nvSpPr>
          <p:cNvPr id="16" name="Text 13"/>
          <p:cNvSpPr/>
          <p:nvPr/>
        </p:nvSpPr>
        <p:spPr>
          <a:xfrm>
            <a:off x="6473952" y="4599432"/>
            <a:ext cx="256032" cy="182880"/>
          </a:xfrm>
          <a:prstGeom prst="rect">
            <a:avLst/>
          </a:prstGeom>
          <a:noFill/>
          <a:ln/>
        </p:spPr>
        <p:txBody>
          <a:bodyPr wrap="square" lIns="0" tIns="0" rIns="0" bIns="0" rtlCol="0" anchor="ctr"/>
          <a:lstStyle/>
          <a:p>
            <a:pPr algn="ctr" indent="0" marL="0">
              <a:buNone/>
            </a:pPr>
            <a:r>
              <a:rPr lang="en-US" sz="1100" b="1" dirty="0">
                <a:solidFill>
                  <a:srgbClr val="16A085"/>
                </a:solidFill>
              </a:rPr>
              <a:t>4</a:t>
            </a:r>
            <a:endParaRPr lang="en-US" sz="1100" dirty="0"/>
          </a:p>
        </p:txBody>
      </p:sp>
      <p:sp>
        <p:nvSpPr>
          <p:cNvPr id="17" name="Text 14"/>
          <p:cNvSpPr/>
          <p:nvPr/>
        </p:nvSpPr>
        <p:spPr>
          <a:xfrm>
            <a:off x="6876288" y="4553712"/>
            <a:ext cx="3749040" cy="228600"/>
          </a:xfrm>
          <a:prstGeom prst="rect">
            <a:avLst/>
          </a:prstGeom>
          <a:noFill/>
          <a:ln/>
        </p:spPr>
        <p:txBody>
          <a:bodyPr wrap="square" lIns="0" tIns="0" rIns="0" bIns="0" rtlCol="0" anchor="ctr"/>
          <a:lstStyle/>
          <a:p>
            <a:pPr indent="0" marL="0">
              <a:buNone/>
            </a:pPr>
            <a:r>
              <a:rPr lang="en-US" sz="1500" b="1" dirty="0">
                <a:solidFill>
                  <a:srgbClr val="23374D"/>
                </a:solidFill>
              </a:rPr>
              <a:t>Session stays secure</a:t>
            </a:r>
            <a:endParaRPr lang="en-US" sz="1500" dirty="0"/>
          </a:p>
        </p:txBody>
      </p:sp>
      <p:sp>
        <p:nvSpPr>
          <p:cNvPr id="18" name="Shape 15"/>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9" name="Text 16"/>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00:20–00:50</a:t>
            </a:r>
            <a:endParaRPr lang="en-US" sz="1000" dirty="0"/>
          </a:p>
        </p:txBody>
      </p:sp>
      <p:sp>
        <p:nvSpPr>
          <p:cNvPr id="20" name="Text 17"/>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Slow zoom across workstation</a:t>
            </a:r>
            <a:endParaRPr lang="en-US" sz="950" dirty="0"/>
          </a:p>
        </p:txBody>
      </p:sp>
      <p:sp>
        <p:nvSpPr>
          <p:cNvPr id="21" name="Text 18"/>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Introduce the end-to-end story</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03</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WPF builds the desktop experience</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XAML defines the interface; C# supplies behavior.</a:t>
            </a:r>
            <a:endParaRPr lang="en-US" sz="1350" dirty="0"/>
          </a:p>
        </p:txBody>
      </p:sp>
      <p:sp>
        <p:nvSpPr>
          <p:cNvPr id="5" name="Shape 3"/>
          <p:cNvSpPr/>
          <p:nvPr/>
        </p:nvSpPr>
        <p:spPr>
          <a:xfrm>
            <a:off x="594360" y="2057400"/>
            <a:ext cx="5212080" cy="3154680"/>
          </a:xfrm>
          <a:prstGeom prst="roundRect">
            <a:avLst>
              <a:gd name="adj" fmla="val 2319"/>
            </a:avLst>
          </a:prstGeom>
          <a:solidFill>
            <a:srgbClr val="0B1623"/>
          </a:solidFill>
          <a:ln w="12700">
            <a:solidFill>
              <a:srgbClr val="22364A"/>
            </a:solidFill>
            <a:prstDash val="solid"/>
          </a:ln>
        </p:spPr>
      </p:sp>
      <p:sp>
        <p:nvSpPr>
          <p:cNvPr id="6" name="Text 4"/>
          <p:cNvSpPr/>
          <p:nvPr/>
        </p:nvSpPr>
        <p:spPr>
          <a:xfrm>
            <a:off x="758952" y="2194560"/>
            <a:ext cx="4882896" cy="288036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&lt;TextBox</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Text="{Binding CandidateId}" /&gt;</a:t>
            </a:r>
            <a:endParaRPr lang="en-US" sz="1200" dirty="0"/>
          </a:p>
          <a:p>
            <a:pPr indent="0" marL="0">
              <a:buNone/>
            </a:pP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&lt;Button</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Content="Start Exam"</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Command="{Binding StartExamCommand}" /&gt;</a:t>
            </a:r>
            <a:endParaRPr lang="en-US" sz="1200" dirty="0"/>
          </a:p>
        </p:txBody>
      </p:sp>
      <p:sp>
        <p:nvSpPr>
          <p:cNvPr id="7" name="Shape 5"/>
          <p:cNvSpPr/>
          <p:nvPr/>
        </p:nvSpPr>
        <p:spPr>
          <a:xfrm>
            <a:off x="6446520" y="2103120"/>
            <a:ext cx="4709160" cy="3017520"/>
          </a:xfrm>
          <a:prstGeom prst="roundRect">
            <a:avLst>
              <a:gd name="adj" fmla="val 2424"/>
            </a:avLst>
          </a:prstGeom>
          <a:solidFill>
            <a:srgbClr val="FFFFFF"/>
          </a:solidFill>
          <a:ln w="12700">
            <a:solidFill>
              <a:srgbClr val="D5DFEA"/>
            </a:solidFill>
            <a:prstDash val="solid"/>
          </a:ln>
        </p:spPr>
      </p:sp>
      <p:sp>
        <p:nvSpPr>
          <p:cNvPr id="8" name="Text 6"/>
          <p:cNvSpPr/>
          <p:nvPr/>
        </p:nvSpPr>
        <p:spPr>
          <a:xfrm>
            <a:off x="6812280" y="2487168"/>
            <a:ext cx="3566160" cy="365760"/>
          </a:xfrm>
          <a:prstGeom prst="rect">
            <a:avLst/>
          </a:prstGeom>
          <a:noFill/>
          <a:ln/>
        </p:spPr>
        <p:txBody>
          <a:bodyPr wrap="square" lIns="0" tIns="0" rIns="0" bIns="0" rtlCol="0" anchor="ctr"/>
          <a:lstStyle/>
          <a:p>
            <a:pPr indent="0" marL="0">
              <a:buNone/>
            </a:pPr>
            <a:r>
              <a:rPr lang="en-US" sz="2300" b="1" dirty="0">
                <a:solidFill>
                  <a:srgbClr val="102A43"/>
                </a:solidFill>
              </a:rPr>
              <a:t>Secure Examination</a:t>
            </a:r>
            <a:endParaRPr lang="en-US" sz="2300" dirty="0"/>
          </a:p>
        </p:txBody>
      </p:sp>
      <p:sp>
        <p:nvSpPr>
          <p:cNvPr id="9" name="Shape 7"/>
          <p:cNvSpPr/>
          <p:nvPr/>
        </p:nvSpPr>
        <p:spPr>
          <a:xfrm>
            <a:off x="6812280" y="3154680"/>
            <a:ext cx="3794760" cy="502920"/>
          </a:xfrm>
          <a:prstGeom prst="roundRect">
            <a:avLst>
              <a:gd name="adj" fmla="val 9091"/>
            </a:avLst>
          </a:prstGeom>
          <a:solidFill>
            <a:srgbClr val="F7FAFC"/>
          </a:solidFill>
          <a:ln w="12700">
            <a:solidFill>
              <a:srgbClr val="B8C6D5"/>
            </a:solidFill>
            <a:prstDash val="solid"/>
          </a:ln>
        </p:spPr>
      </p:sp>
      <p:sp>
        <p:nvSpPr>
          <p:cNvPr id="10" name="Text 8"/>
          <p:cNvSpPr/>
          <p:nvPr/>
        </p:nvSpPr>
        <p:spPr>
          <a:xfrm>
            <a:off x="7040880" y="3310128"/>
            <a:ext cx="1828800" cy="182880"/>
          </a:xfrm>
          <a:prstGeom prst="rect">
            <a:avLst/>
          </a:prstGeom>
          <a:noFill/>
          <a:ln/>
        </p:spPr>
        <p:txBody>
          <a:bodyPr wrap="square" lIns="0" tIns="0" rIns="0" bIns="0" rtlCol="0" anchor="ctr"/>
          <a:lstStyle/>
          <a:p>
            <a:pPr indent="0" marL="0">
              <a:buNone/>
            </a:pPr>
            <a:r>
              <a:rPr lang="en-US" sz="1200" dirty="0">
                <a:solidFill>
                  <a:srgbClr val="65758B"/>
                </a:solidFill>
              </a:rPr>
              <a:t>Candidate ID</a:t>
            </a:r>
            <a:endParaRPr lang="en-US" sz="1200" dirty="0"/>
          </a:p>
        </p:txBody>
      </p:sp>
      <p:sp>
        <p:nvSpPr>
          <p:cNvPr id="11" name="Shape 9"/>
          <p:cNvSpPr/>
          <p:nvPr/>
        </p:nvSpPr>
        <p:spPr>
          <a:xfrm>
            <a:off x="6812280" y="3977640"/>
            <a:ext cx="2057400" cy="566928"/>
          </a:xfrm>
          <a:prstGeom prst="roundRect">
            <a:avLst>
              <a:gd name="adj" fmla="val 9677"/>
            </a:avLst>
          </a:prstGeom>
          <a:solidFill>
            <a:srgbClr val="1677FF"/>
          </a:solidFill>
          <a:ln w="12700">
            <a:solidFill>
              <a:srgbClr val="1677FF"/>
            </a:solidFill>
            <a:prstDash val="solid"/>
          </a:ln>
        </p:spPr>
      </p:sp>
      <p:sp>
        <p:nvSpPr>
          <p:cNvPr id="12" name="Text 10"/>
          <p:cNvSpPr/>
          <p:nvPr/>
        </p:nvSpPr>
        <p:spPr>
          <a:xfrm>
            <a:off x="7086600" y="4160520"/>
            <a:ext cx="1508760" cy="182880"/>
          </a:xfrm>
          <a:prstGeom prst="rect">
            <a:avLst/>
          </a:prstGeom>
          <a:noFill/>
          <a:ln/>
        </p:spPr>
        <p:txBody>
          <a:bodyPr wrap="square" lIns="0" tIns="0" rIns="0" bIns="0" rtlCol="0" anchor="ctr"/>
          <a:lstStyle/>
          <a:p>
            <a:pPr algn="ctr" indent="0" marL="0">
              <a:buNone/>
            </a:pPr>
            <a:r>
              <a:rPr lang="en-US" sz="1400" b="1" dirty="0">
                <a:solidFill>
                  <a:srgbClr val="FFFFFF"/>
                </a:solidFill>
              </a:rPr>
              <a:t>Start Exam</a:t>
            </a:r>
            <a:endParaRPr lang="en-US" sz="1400" dirty="0"/>
          </a:p>
        </p:txBody>
      </p:sp>
      <p:sp>
        <p:nvSpPr>
          <p:cNvPr id="13" name="Shape 11"/>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4" name="Text 12"/>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00:50–01:25</a:t>
            </a:r>
            <a:endParaRPr lang="en-US" sz="1000" dirty="0"/>
          </a:p>
        </p:txBody>
      </p:sp>
      <p:sp>
        <p:nvSpPr>
          <p:cNvPr id="15" name="Text 13"/>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Code morphs into UI mockup</a:t>
            </a:r>
            <a:endParaRPr lang="en-US" sz="950" dirty="0"/>
          </a:p>
        </p:txBody>
      </p:sp>
      <p:sp>
        <p:nvSpPr>
          <p:cNvPr id="16" name="Text 14"/>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Explain XAML + binding</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04</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MVVM keeps responsibilities clear</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The View does not need to know how networking or system checks work.</a:t>
            </a:r>
            <a:endParaRPr lang="en-US" sz="1350" dirty="0"/>
          </a:p>
        </p:txBody>
      </p:sp>
      <p:sp>
        <p:nvSpPr>
          <p:cNvPr id="5" name="Shape 3"/>
          <p:cNvSpPr/>
          <p:nvPr/>
        </p:nvSpPr>
        <p:spPr>
          <a:xfrm>
            <a:off x="685800" y="2240280"/>
            <a:ext cx="2286000" cy="1325880"/>
          </a:xfrm>
          <a:prstGeom prst="roundRect">
            <a:avLst>
              <a:gd name="adj" fmla="val 5517"/>
            </a:avLst>
          </a:prstGeom>
          <a:solidFill>
            <a:srgbClr val="FFFFFF"/>
          </a:solidFill>
          <a:ln w="19050">
            <a:solidFill>
              <a:srgbClr val="1677FF"/>
            </a:solidFill>
            <a:prstDash val="solid"/>
          </a:ln>
        </p:spPr>
      </p:sp>
      <p:sp>
        <p:nvSpPr>
          <p:cNvPr id="6" name="Text 4"/>
          <p:cNvSpPr/>
          <p:nvPr/>
        </p:nvSpPr>
        <p:spPr>
          <a:xfrm>
            <a:off x="914400" y="2505456"/>
            <a:ext cx="1828800" cy="210312"/>
          </a:xfrm>
          <a:prstGeom prst="rect">
            <a:avLst/>
          </a:prstGeom>
          <a:noFill/>
          <a:ln/>
        </p:spPr>
        <p:txBody>
          <a:bodyPr wrap="square" lIns="0" tIns="0" rIns="0" bIns="0" rtlCol="0" anchor="ctr"/>
          <a:lstStyle/>
          <a:p>
            <a:pPr algn="ctr" indent="0" marL="0">
              <a:buNone/>
            </a:pPr>
            <a:r>
              <a:rPr lang="en-US" sz="1200" b="1" dirty="0">
                <a:solidFill>
                  <a:srgbClr val="1677FF"/>
                </a:solidFill>
              </a:rPr>
              <a:t>VIEW</a:t>
            </a:r>
            <a:endParaRPr lang="en-US" sz="1200" dirty="0"/>
          </a:p>
        </p:txBody>
      </p:sp>
      <p:sp>
        <p:nvSpPr>
          <p:cNvPr id="7" name="Text 5"/>
          <p:cNvSpPr/>
          <p:nvPr/>
        </p:nvSpPr>
        <p:spPr>
          <a:xfrm>
            <a:off x="868680" y="2907792"/>
            <a:ext cx="1920240" cy="228600"/>
          </a:xfrm>
          <a:prstGeom prst="rect">
            <a:avLst/>
          </a:prstGeom>
          <a:noFill/>
          <a:ln/>
        </p:spPr>
        <p:txBody>
          <a:bodyPr wrap="square" lIns="0" tIns="0" rIns="0" bIns="0" rtlCol="0" anchor="ctr"/>
          <a:lstStyle/>
          <a:p>
            <a:pPr algn="ctr" indent="0" marL="0">
              <a:buNone/>
            </a:pPr>
            <a:r>
              <a:rPr lang="en-US" sz="1500" b="1" dirty="0">
                <a:solidFill>
                  <a:srgbClr val="23374D"/>
                </a:solidFill>
              </a:rPr>
              <a:t>MainWindow.xaml</a:t>
            </a:r>
            <a:endParaRPr lang="en-US" sz="1500" dirty="0"/>
          </a:p>
        </p:txBody>
      </p:sp>
      <p:sp>
        <p:nvSpPr>
          <p:cNvPr id="8" name="Shape 6"/>
          <p:cNvSpPr/>
          <p:nvPr/>
        </p:nvSpPr>
        <p:spPr>
          <a:xfrm>
            <a:off x="3081528" y="2670048"/>
            <a:ext cx="256032" cy="438912"/>
          </a:xfrm>
          <a:prstGeom prst="chevron">
            <a:avLst/>
          </a:prstGeom>
          <a:solidFill>
            <a:srgbClr val="B9C8D8"/>
          </a:solidFill>
          <a:ln w="12700">
            <a:solidFill>
              <a:srgbClr val="B9C8D8"/>
            </a:solidFill>
            <a:prstDash val="solid"/>
          </a:ln>
        </p:spPr>
      </p:sp>
      <p:sp>
        <p:nvSpPr>
          <p:cNvPr id="9" name="Shape 7"/>
          <p:cNvSpPr/>
          <p:nvPr/>
        </p:nvSpPr>
        <p:spPr>
          <a:xfrm>
            <a:off x="3474720" y="2240280"/>
            <a:ext cx="2286000" cy="1325880"/>
          </a:xfrm>
          <a:prstGeom prst="roundRect">
            <a:avLst>
              <a:gd name="adj" fmla="val 5517"/>
            </a:avLst>
          </a:prstGeom>
          <a:solidFill>
            <a:srgbClr val="FFFFFF"/>
          </a:solidFill>
          <a:ln w="19050">
            <a:solidFill>
              <a:srgbClr val="6C63FF"/>
            </a:solidFill>
            <a:prstDash val="solid"/>
          </a:ln>
        </p:spPr>
      </p:sp>
      <p:sp>
        <p:nvSpPr>
          <p:cNvPr id="10" name="Text 8"/>
          <p:cNvSpPr/>
          <p:nvPr/>
        </p:nvSpPr>
        <p:spPr>
          <a:xfrm>
            <a:off x="3703320" y="2505456"/>
            <a:ext cx="1828800" cy="210312"/>
          </a:xfrm>
          <a:prstGeom prst="rect">
            <a:avLst/>
          </a:prstGeom>
          <a:noFill/>
          <a:ln/>
        </p:spPr>
        <p:txBody>
          <a:bodyPr wrap="square" lIns="0" tIns="0" rIns="0" bIns="0" rtlCol="0" anchor="ctr"/>
          <a:lstStyle/>
          <a:p>
            <a:pPr algn="ctr" indent="0" marL="0">
              <a:buNone/>
            </a:pPr>
            <a:r>
              <a:rPr lang="en-US" sz="1200" b="1" dirty="0">
                <a:solidFill>
                  <a:srgbClr val="6C63FF"/>
                </a:solidFill>
              </a:rPr>
              <a:t>VIEWMODEL</a:t>
            </a:r>
            <a:endParaRPr lang="en-US" sz="1200" dirty="0"/>
          </a:p>
        </p:txBody>
      </p:sp>
      <p:sp>
        <p:nvSpPr>
          <p:cNvPr id="11" name="Text 9"/>
          <p:cNvSpPr/>
          <p:nvPr/>
        </p:nvSpPr>
        <p:spPr>
          <a:xfrm>
            <a:off x="3657600" y="2907792"/>
            <a:ext cx="1920240" cy="228600"/>
          </a:xfrm>
          <a:prstGeom prst="rect">
            <a:avLst/>
          </a:prstGeom>
          <a:noFill/>
          <a:ln/>
        </p:spPr>
        <p:txBody>
          <a:bodyPr wrap="square" lIns="0" tIns="0" rIns="0" bIns="0" rtlCol="0" anchor="ctr"/>
          <a:lstStyle/>
          <a:p>
            <a:pPr algn="ctr" indent="0" marL="0">
              <a:buNone/>
            </a:pPr>
            <a:r>
              <a:rPr lang="en-US" sz="1500" b="1" dirty="0">
                <a:solidFill>
                  <a:srgbClr val="23374D"/>
                </a:solidFill>
              </a:rPr>
              <a:t>ExamViewModel</a:t>
            </a:r>
            <a:endParaRPr lang="en-US" sz="1500" dirty="0"/>
          </a:p>
        </p:txBody>
      </p:sp>
      <p:sp>
        <p:nvSpPr>
          <p:cNvPr id="12" name="Shape 10"/>
          <p:cNvSpPr/>
          <p:nvPr/>
        </p:nvSpPr>
        <p:spPr>
          <a:xfrm>
            <a:off x="5870448" y="2670048"/>
            <a:ext cx="256032" cy="438912"/>
          </a:xfrm>
          <a:prstGeom prst="chevron">
            <a:avLst/>
          </a:prstGeom>
          <a:solidFill>
            <a:srgbClr val="B9C8D8"/>
          </a:solidFill>
          <a:ln w="12700">
            <a:solidFill>
              <a:srgbClr val="B9C8D8"/>
            </a:solidFill>
            <a:prstDash val="solid"/>
          </a:ln>
        </p:spPr>
      </p:sp>
      <p:sp>
        <p:nvSpPr>
          <p:cNvPr id="13" name="Shape 11"/>
          <p:cNvSpPr/>
          <p:nvPr/>
        </p:nvSpPr>
        <p:spPr>
          <a:xfrm>
            <a:off x="6263640" y="2240280"/>
            <a:ext cx="2286000" cy="1325880"/>
          </a:xfrm>
          <a:prstGeom prst="roundRect">
            <a:avLst>
              <a:gd name="adj" fmla="val 5517"/>
            </a:avLst>
          </a:prstGeom>
          <a:solidFill>
            <a:srgbClr val="FFFFFF"/>
          </a:solidFill>
          <a:ln w="19050">
            <a:solidFill>
              <a:srgbClr val="16A085"/>
            </a:solidFill>
            <a:prstDash val="solid"/>
          </a:ln>
        </p:spPr>
      </p:sp>
      <p:sp>
        <p:nvSpPr>
          <p:cNvPr id="14" name="Text 12"/>
          <p:cNvSpPr/>
          <p:nvPr/>
        </p:nvSpPr>
        <p:spPr>
          <a:xfrm>
            <a:off x="6492240" y="2505456"/>
            <a:ext cx="1828800" cy="210312"/>
          </a:xfrm>
          <a:prstGeom prst="rect">
            <a:avLst/>
          </a:prstGeom>
          <a:noFill/>
          <a:ln/>
        </p:spPr>
        <p:txBody>
          <a:bodyPr wrap="square" lIns="0" tIns="0" rIns="0" bIns="0" rtlCol="0" anchor="ctr"/>
          <a:lstStyle/>
          <a:p>
            <a:pPr algn="ctr" indent="0" marL="0">
              <a:buNone/>
            </a:pPr>
            <a:r>
              <a:rPr lang="en-US" sz="1200" b="1" dirty="0">
                <a:solidFill>
                  <a:srgbClr val="16A085"/>
                </a:solidFill>
              </a:rPr>
              <a:t>SERVICES</a:t>
            </a:r>
            <a:endParaRPr lang="en-US" sz="1200" dirty="0"/>
          </a:p>
        </p:txBody>
      </p:sp>
      <p:sp>
        <p:nvSpPr>
          <p:cNvPr id="15" name="Text 13"/>
          <p:cNvSpPr/>
          <p:nvPr/>
        </p:nvSpPr>
        <p:spPr>
          <a:xfrm>
            <a:off x="6446520" y="2907792"/>
            <a:ext cx="1920240" cy="228600"/>
          </a:xfrm>
          <a:prstGeom prst="rect">
            <a:avLst/>
          </a:prstGeom>
          <a:noFill/>
          <a:ln/>
        </p:spPr>
        <p:txBody>
          <a:bodyPr wrap="square" lIns="0" tIns="0" rIns="0" bIns="0" rtlCol="0" anchor="ctr"/>
          <a:lstStyle/>
          <a:p>
            <a:pPr algn="ctr" indent="0" marL="0">
              <a:buNone/>
            </a:pPr>
            <a:r>
              <a:rPr lang="en-US" sz="1500" b="1" dirty="0">
                <a:solidFill>
                  <a:srgbClr val="23374D"/>
                </a:solidFill>
              </a:rPr>
              <a:t>ExamApi + checks</a:t>
            </a:r>
            <a:endParaRPr lang="en-US" sz="1500" dirty="0"/>
          </a:p>
        </p:txBody>
      </p:sp>
      <p:sp>
        <p:nvSpPr>
          <p:cNvPr id="16" name="Shape 14"/>
          <p:cNvSpPr/>
          <p:nvPr/>
        </p:nvSpPr>
        <p:spPr>
          <a:xfrm>
            <a:off x="8659368" y="2670048"/>
            <a:ext cx="256032" cy="438912"/>
          </a:xfrm>
          <a:prstGeom prst="chevron">
            <a:avLst/>
          </a:prstGeom>
          <a:solidFill>
            <a:srgbClr val="B9C8D8"/>
          </a:solidFill>
          <a:ln w="12700">
            <a:solidFill>
              <a:srgbClr val="B9C8D8"/>
            </a:solidFill>
            <a:prstDash val="solid"/>
          </a:ln>
        </p:spPr>
      </p:sp>
      <p:sp>
        <p:nvSpPr>
          <p:cNvPr id="17" name="Shape 15"/>
          <p:cNvSpPr/>
          <p:nvPr/>
        </p:nvSpPr>
        <p:spPr>
          <a:xfrm>
            <a:off x="9052560" y="2240280"/>
            <a:ext cx="2286000" cy="1325880"/>
          </a:xfrm>
          <a:prstGeom prst="roundRect">
            <a:avLst>
              <a:gd name="adj" fmla="val 5517"/>
            </a:avLst>
          </a:prstGeom>
          <a:solidFill>
            <a:srgbClr val="FFFFFF"/>
          </a:solidFill>
          <a:ln w="19050">
            <a:solidFill>
              <a:srgbClr val="F59E0B"/>
            </a:solidFill>
            <a:prstDash val="solid"/>
          </a:ln>
        </p:spPr>
      </p:sp>
      <p:sp>
        <p:nvSpPr>
          <p:cNvPr id="18" name="Text 16"/>
          <p:cNvSpPr/>
          <p:nvPr/>
        </p:nvSpPr>
        <p:spPr>
          <a:xfrm>
            <a:off x="9281160" y="2505456"/>
            <a:ext cx="1828800" cy="210312"/>
          </a:xfrm>
          <a:prstGeom prst="rect">
            <a:avLst/>
          </a:prstGeom>
          <a:noFill/>
          <a:ln/>
        </p:spPr>
        <p:txBody>
          <a:bodyPr wrap="square" lIns="0" tIns="0" rIns="0" bIns="0" rtlCol="0" anchor="ctr"/>
          <a:lstStyle/>
          <a:p>
            <a:pPr algn="ctr" indent="0" marL="0">
              <a:buNone/>
            </a:pPr>
            <a:r>
              <a:rPr lang="en-US" sz="1200" b="1" dirty="0">
                <a:solidFill>
                  <a:srgbClr val="F59E0B"/>
                </a:solidFill>
              </a:rPr>
              <a:t>MODEL</a:t>
            </a:r>
            <a:endParaRPr lang="en-US" sz="1200" dirty="0"/>
          </a:p>
        </p:txBody>
      </p:sp>
      <p:sp>
        <p:nvSpPr>
          <p:cNvPr id="19" name="Text 17"/>
          <p:cNvSpPr/>
          <p:nvPr/>
        </p:nvSpPr>
        <p:spPr>
          <a:xfrm>
            <a:off x="9235440" y="2907792"/>
            <a:ext cx="1920240" cy="228600"/>
          </a:xfrm>
          <a:prstGeom prst="rect">
            <a:avLst/>
          </a:prstGeom>
          <a:noFill/>
          <a:ln/>
        </p:spPr>
        <p:txBody>
          <a:bodyPr wrap="square" lIns="0" tIns="0" rIns="0" bIns="0" rtlCol="0" anchor="ctr"/>
          <a:lstStyle/>
          <a:p>
            <a:pPr algn="ctr" indent="0" marL="0">
              <a:buNone/>
            </a:pPr>
            <a:r>
              <a:rPr lang="en-US" sz="1500" b="1" dirty="0">
                <a:solidFill>
                  <a:srgbClr val="23374D"/>
                </a:solidFill>
              </a:rPr>
              <a:t>ExamSession</a:t>
            </a:r>
            <a:endParaRPr lang="en-US" sz="1500" dirty="0"/>
          </a:p>
        </p:txBody>
      </p:sp>
      <p:sp>
        <p:nvSpPr>
          <p:cNvPr id="20" name="Text 18"/>
          <p:cNvSpPr/>
          <p:nvPr/>
        </p:nvSpPr>
        <p:spPr>
          <a:xfrm>
            <a:off x="1143000" y="4251960"/>
            <a:ext cx="9784080" cy="566928"/>
          </a:xfrm>
          <a:prstGeom prst="rect">
            <a:avLst/>
          </a:prstGeom>
          <a:solidFill>
            <a:srgbClr val="EAF2FF"/>
          </a:solidFill>
          <a:ln/>
        </p:spPr>
        <p:txBody>
          <a:bodyPr wrap="square" lIns="635" tIns="635" rIns="635" bIns="635" rtlCol="0" anchor="ctr"/>
          <a:lstStyle/>
          <a:p>
            <a:pPr algn="ctr" indent="0" marL="0">
              <a:buNone/>
            </a:pPr>
            <a:r>
              <a:rPr lang="en-US" sz="1800" b="1" dirty="0">
                <a:solidFill>
                  <a:srgbClr val="102A43"/>
                </a:solidFill>
              </a:rPr>
              <a:t>Interview answer: explain the separation, then explain why it improves testing and maintenance.</a:t>
            </a:r>
            <a:endParaRPr lang="en-US" sz="1800" dirty="0"/>
          </a:p>
        </p:txBody>
      </p:sp>
      <p:sp>
        <p:nvSpPr>
          <p:cNvPr id="21" name="Shape 19"/>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22" name="Text 20"/>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01:25–02:00</a:t>
            </a:r>
            <a:endParaRPr lang="en-US" sz="1000" dirty="0"/>
          </a:p>
        </p:txBody>
      </p:sp>
      <p:sp>
        <p:nvSpPr>
          <p:cNvPr id="23" name="Text 21"/>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Reveal each layer left to right</a:t>
            </a:r>
            <a:endParaRPr lang="en-US" sz="950" dirty="0"/>
          </a:p>
        </p:txBody>
      </p:sp>
      <p:sp>
        <p:nvSpPr>
          <p:cNvPr id="24" name="Text 22"/>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Use a simple analogy</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05</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Binding + notifications keep the screen current</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When Status changes, WPF needs a signal.</a:t>
            </a:r>
            <a:endParaRPr lang="en-US" sz="1350" dirty="0"/>
          </a:p>
        </p:txBody>
      </p:sp>
      <p:sp>
        <p:nvSpPr>
          <p:cNvPr id="5" name="Shape 3"/>
          <p:cNvSpPr/>
          <p:nvPr/>
        </p:nvSpPr>
        <p:spPr>
          <a:xfrm>
            <a:off x="594360" y="2011680"/>
            <a:ext cx="5074920" cy="3383280"/>
          </a:xfrm>
          <a:prstGeom prst="roundRect">
            <a:avLst>
              <a:gd name="adj" fmla="val 2162"/>
            </a:avLst>
          </a:prstGeom>
          <a:solidFill>
            <a:srgbClr val="0B1623"/>
          </a:solidFill>
          <a:ln w="12700">
            <a:solidFill>
              <a:srgbClr val="22364A"/>
            </a:solidFill>
            <a:prstDash val="solid"/>
          </a:ln>
        </p:spPr>
      </p:sp>
      <p:sp>
        <p:nvSpPr>
          <p:cNvPr id="6" name="Text 4"/>
          <p:cNvSpPr/>
          <p:nvPr/>
        </p:nvSpPr>
        <p:spPr>
          <a:xfrm>
            <a:off x="758952" y="2148840"/>
            <a:ext cx="4745736" cy="310896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public string Status</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get =&gt; _status;</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set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_status = value;</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OnPropertyChanged();</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p:txBody>
      </p:sp>
      <p:sp>
        <p:nvSpPr>
          <p:cNvPr id="7" name="Text 5"/>
          <p:cNvSpPr/>
          <p:nvPr/>
        </p:nvSpPr>
        <p:spPr>
          <a:xfrm>
            <a:off x="6537960" y="2286000"/>
            <a:ext cx="3931920" cy="438912"/>
          </a:xfrm>
          <a:prstGeom prst="rect">
            <a:avLst/>
          </a:prstGeom>
          <a:noFill/>
          <a:ln/>
        </p:spPr>
        <p:txBody>
          <a:bodyPr wrap="square" lIns="0" tIns="0" rIns="0" bIns="0" rtlCol="0" anchor="ctr"/>
          <a:lstStyle/>
          <a:p>
            <a:pPr algn="ctr" indent="0" marL="0">
              <a:buNone/>
            </a:pPr>
            <a:r>
              <a:rPr lang="en-US" sz="2400" b="1" dirty="0">
                <a:solidFill>
                  <a:srgbClr val="F59E0B"/>
                </a:solidFill>
              </a:rPr>
              <a:t>Checking system…</a:t>
            </a:r>
            <a:endParaRPr lang="en-US" sz="2400" dirty="0"/>
          </a:p>
        </p:txBody>
      </p:sp>
      <p:sp>
        <p:nvSpPr>
          <p:cNvPr id="8" name="Shape 6"/>
          <p:cNvSpPr/>
          <p:nvPr/>
        </p:nvSpPr>
        <p:spPr>
          <a:xfrm>
            <a:off x="8001000" y="2880360"/>
            <a:ext cx="960120" cy="822960"/>
          </a:xfrm>
          <a:prstGeom prst="downArrow">
            <a:avLst/>
          </a:prstGeom>
          <a:solidFill>
            <a:srgbClr val="26C6DA"/>
          </a:solidFill>
          <a:ln w="12700">
            <a:solidFill>
              <a:srgbClr val="26C6DA"/>
            </a:solidFill>
            <a:prstDash val="solid"/>
          </a:ln>
        </p:spPr>
      </p:sp>
      <p:sp>
        <p:nvSpPr>
          <p:cNvPr id="9" name="Text 7"/>
          <p:cNvSpPr/>
          <p:nvPr/>
        </p:nvSpPr>
        <p:spPr>
          <a:xfrm>
            <a:off x="6537960" y="3977640"/>
            <a:ext cx="3931920" cy="548640"/>
          </a:xfrm>
          <a:prstGeom prst="rect">
            <a:avLst/>
          </a:prstGeom>
          <a:noFill/>
          <a:ln/>
        </p:spPr>
        <p:txBody>
          <a:bodyPr wrap="square" lIns="0" tIns="0" rIns="0" bIns="0" rtlCol="0" anchor="ctr"/>
          <a:lstStyle/>
          <a:p>
            <a:pPr algn="ctr" indent="0" marL="0">
              <a:buNone/>
            </a:pPr>
            <a:r>
              <a:rPr lang="en-US" sz="3000" b="1" dirty="0">
                <a:solidFill>
                  <a:srgbClr val="16A085"/>
                </a:solidFill>
              </a:rPr>
              <a:t>Exam Ready</a:t>
            </a:r>
            <a:endParaRPr lang="en-US" sz="3000" dirty="0"/>
          </a:p>
        </p:txBody>
      </p:sp>
      <p:sp>
        <p:nvSpPr>
          <p:cNvPr id="10" name="Text 8"/>
          <p:cNvSpPr/>
          <p:nvPr/>
        </p:nvSpPr>
        <p:spPr>
          <a:xfrm>
            <a:off x="7132320" y="4773168"/>
            <a:ext cx="2743200" cy="310896"/>
          </a:xfrm>
          <a:prstGeom prst="rect">
            <a:avLst/>
          </a:prstGeom>
          <a:noFill/>
          <a:ln/>
        </p:spPr>
        <p:txBody>
          <a:bodyPr wrap="square" lIns="0" tIns="0" rIns="0" bIns="0" rtlCol="0" anchor="ctr"/>
          <a:lstStyle/>
          <a:p>
            <a:pPr algn="ctr" indent="0" marL="0">
              <a:buNone/>
            </a:pPr>
            <a:r>
              <a:rPr lang="en-US" sz="1400" b="1" dirty="0">
                <a:solidFill>
                  <a:srgbClr val="6C63FF"/>
                </a:solidFill>
              </a:rPr>
              <a:t>INotifyPropertyChanged</a:t>
            </a:r>
            <a:endParaRPr lang="en-US" sz="1400" dirty="0"/>
          </a:p>
        </p:txBody>
      </p:sp>
      <p:sp>
        <p:nvSpPr>
          <p:cNvPr id="11" name="Shape 9"/>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2" name="Text 10"/>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02:00–02:35</a:t>
            </a:r>
            <a:endParaRPr lang="en-US" sz="1000" dirty="0"/>
          </a:p>
        </p:txBody>
      </p:sp>
      <p:sp>
        <p:nvSpPr>
          <p:cNvPr id="13" name="Text 11"/>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Status animates from checking to ready</a:t>
            </a:r>
            <a:endParaRPr lang="en-US" sz="950" dirty="0"/>
          </a:p>
        </p:txBody>
      </p:sp>
      <p:sp>
        <p:nvSpPr>
          <p:cNvPr id="14" name="Text 12"/>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Stress the “signal” idea</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06</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Commands describe user actions</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Execute answers “what happens?” CanExecute answers “is it allowed now?”</a:t>
            </a:r>
            <a:endParaRPr lang="en-US" sz="1350" dirty="0"/>
          </a:p>
        </p:txBody>
      </p:sp>
      <p:sp>
        <p:nvSpPr>
          <p:cNvPr id="5" name="Shape 3"/>
          <p:cNvSpPr/>
          <p:nvPr/>
        </p:nvSpPr>
        <p:spPr>
          <a:xfrm>
            <a:off x="640080" y="2075688"/>
            <a:ext cx="5212080" cy="2286000"/>
          </a:xfrm>
          <a:prstGeom prst="roundRect">
            <a:avLst>
              <a:gd name="adj" fmla="val 3200"/>
            </a:avLst>
          </a:prstGeom>
          <a:solidFill>
            <a:srgbClr val="0B1623"/>
          </a:solidFill>
          <a:ln w="12700">
            <a:solidFill>
              <a:srgbClr val="22364A"/>
            </a:solidFill>
            <a:prstDash val="solid"/>
          </a:ln>
        </p:spPr>
      </p:sp>
      <p:sp>
        <p:nvSpPr>
          <p:cNvPr id="6" name="Text 4"/>
          <p:cNvSpPr/>
          <p:nvPr/>
        </p:nvSpPr>
        <p:spPr>
          <a:xfrm>
            <a:off x="804672" y="2212848"/>
            <a:ext cx="4882896" cy="201168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public ICommand StartExamCommand { get; }</a:t>
            </a:r>
            <a:endParaRPr lang="en-US" sz="1200" dirty="0"/>
          </a:p>
          <a:p>
            <a:pPr indent="0" marL="0">
              <a:buNone/>
            </a:pP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StartExamCommand = new RelayCommand(</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StartExam,</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CanStartExam);</a:t>
            </a:r>
            <a:endParaRPr lang="en-US" sz="1200" dirty="0"/>
          </a:p>
        </p:txBody>
      </p:sp>
      <p:sp>
        <p:nvSpPr>
          <p:cNvPr id="7" name="Shape 5"/>
          <p:cNvSpPr/>
          <p:nvPr/>
        </p:nvSpPr>
        <p:spPr>
          <a:xfrm>
            <a:off x="6629400" y="2139696"/>
            <a:ext cx="4206240" cy="658368"/>
          </a:xfrm>
          <a:prstGeom prst="roundRect">
            <a:avLst>
              <a:gd name="adj" fmla="val 8333"/>
            </a:avLst>
          </a:prstGeom>
          <a:solidFill>
            <a:srgbClr val="DDE6EF"/>
          </a:solidFill>
          <a:ln w="12700">
            <a:solidFill>
              <a:srgbClr val="C5D1DE"/>
            </a:solidFill>
            <a:prstDash val="solid"/>
          </a:ln>
        </p:spPr>
      </p:sp>
      <p:sp>
        <p:nvSpPr>
          <p:cNvPr id="8" name="Text 6"/>
          <p:cNvSpPr/>
          <p:nvPr/>
        </p:nvSpPr>
        <p:spPr>
          <a:xfrm>
            <a:off x="6903720" y="2359152"/>
            <a:ext cx="3657600" cy="219456"/>
          </a:xfrm>
          <a:prstGeom prst="rect">
            <a:avLst/>
          </a:prstGeom>
          <a:noFill/>
          <a:ln/>
        </p:spPr>
        <p:txBody>
          <a:bodyPr wrap="square" lIns="0" tIns="0" rIns="0" bIns="0" rtlCol="0" anchor="ctr"/>
          <a:lstStyle/>
          <a:p>
            <a:pPr algn="ctr" indent="0" marL="0">
              <a:buNone/>
            </a:pPr>
            <a:r>
              <a:rPr lang="en-US" sz="1600" b="1" dirty="0">
                <a:solidFill>
                  <a:srgbClr val="65758B"/>
                </a:solidFill>
              </a:rPr>
              <a:t>Start Exam  •  Disabled</a:t>
            </a:r>
            <a:endParaRPr lang="en-US" sz="1600" dirty="0"/>
          </a:p>
        </p:txBody>
      </p:sp>
      <p:sp>
        <p:nvSpPr>
          <p:cNvPr id="9" name="Shape 7"/>
          <p:cNvSpPr/>
          <p:nvPr/>
        </p:nvSpPr>
        <p:spPr>
          <a:xfrm>
            <a:off x="8183880" y="3054096"/>
            <a:ext cx="1005840" cy="640080"/>
          </a:xfrm>
          <a:prstGeom prst="downArrow">
            <a:avLst/>
          </a:prstGeom>
          <a:solidFill>
            <a:srgbClr val="26C6DA"/>
          </a:solidFill>
          <a:ln w="12700">
            <a:solidFill>
              <a:srgbClr val="26C6DA"/>
            </a:solidFill>
            <a:prstDash val="solid"/>
          </a:ln>
        </p:spPr>
      </p:sp>
      <p:sp>
        <p:nvSpPr>
          <p:cNvPr id="10" name="Shape 8"/>
          <p:cNvSpPr/>
          <p:nvPr/>
        </p:nvSpPr>
        <p:spPr>
          <a:xfrm>
            <a:off x="6629400" y="3986784"/>
            <a:ext cx="4206240" cy="658368"/>
          </a:xfrm>
          <a:prstGeom prst="roundRect">
            <a:avLst>
              <a:gd name="adj" fmla="val 8333"/>
            </a:avLst>
          </a:prstGeom>
          <a:solidFill>
            <a:srgbClr val="1677FF"/>
          </a:solidFill>
          <a:ln w="12700">
            <a:solidFill>
              <a:srgbClr val="1677FF"/>
            </a:solidFill>
            <a:prstDash val="solid"/>
          </a:ln>
        </p:spPr>
      </p:sp>
      <p:sp>
        <p:nvSpPr>
          <p:cNvPr id="11" name="Text 9"/>
          <p:cNvSpPr/>
          <p:nvPr/>
        </p:nvSpPr>
        <p:spPr>
          <a:xfrm>
            <a:off x="6903720" y="4206240"/>
            <a:ext cx="3657600" cy="219456"/>
          </a:xfrm>
          <a:prstGeom prst="rect">
            <a:avLst/>
          </a:prstGeom>
          <a:noFill/>
          <a:ln/>
        </p:spPr>
        <p:txBody>
          <a:bodyPr wrap="square" lIns="0" tIns="0" rIns="0" bIns="0" rtlCol="0" anchor="ctr"/>
          <a:lstStyle/>
          <a:p>
            <a:pPr algn="ctr" indent="0" marL="0">
              <a:buNone/>
            </a:pPr>
            <a:r>
              <a:rPr lang="en-US" sz="1600" b="1" dirty="0">
                <a:solidFill>
                  <a:srgbClr val="FFFFFF"/>
                </a:solidFill>
              </a:rPr>
              <a:t>Start Exam  •  Ready</a:t>
            </a:r>
            <a:endParaRPr lang="en-US" sz="1600" dirty="0"/>
          </a:p>
        </p:txBody>
      </p:sp>
      <p:sp>
        <p:nvSpPr>
          <p:cNvPr id="12" name="Text 10"/>
          <p:cNvSpPr/>
          <p:nvPr/>
        </p:nvSpPr>
        <p:spPr>
          <a:xfrm>
            <a:off x="6693408" y="4937760"/>
            <a:ext cx="4023360" cy="274320"/>
          </a:xfrm>
          <a:prstGeom prst="rect">
            <a:avLst/>
          </a:prstGeom>
          <a:noFill/>
          <a:ln/>
        </p:spPr>
        <p:txBody>
          <a:bodyPr wrap="square" lIns="0" tIns="0" rIns="0" bIns="0" rtlCol="0" anchor="ctr"/>
          <a:lstStyle/>
          <a:p>
            <a:pPr algn="ctr" indent="0" marL="0">
              <a:buNone/>
            </a:pPr>
            <a:r>
              <a:rPr lang="en-US" sz="1200" dirty="0">
                <a:solidFill>
                  <a:srgbClr val="65758B"/>
                </a:solidFill>
              </a:rPr>
              <a:t>Candidate ID valid + system checks passed</a:t>
            </a:r>
            <a:endParaRPr lang="en-US" sz="1200" dirty="0"/>
          </a:p>
        </p:txBody>
      </p:sp>
      <p:sp>
        <p:nvSpPr>
          <p:cNvPr id="13" name="Shape 11"/>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4" name="Text 12"/>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02:35–03:05</a:t>
            </a:r>
            <a:endParaRPr lang="en-US" sz="1000" dirty="0"/>
          </a:p>
        </p:txBody>
      </p:sp>
      <p:sp>
        <p:nvSpPr>
          <p:cNvPr id="15" name="Text 13"/>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Button changes from disabled to enabled</a:t>
            </a:r>
            <a:endParaRPr lang="en-US" sz="950" dirty="0"/>
          </a:p>
        </p:txBody>
      </p:sp>
      <p:sp>
        <p:nvSpPr>
          <p:cNvPr id="16" name="Text 14"/>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Link ICommand to real validation</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07</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The frozen UI problem</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Long synchronous work prevents the UI thread from processing user interaction.</a:t>
            </a:r>
            <a:endParaRPr lang="en-US" sz="1350" dirty="0"/>
          </a:p>
        </p:txBody>
      </p:sp>
      <p:sp>
        <p:nvSpPr>
          <p:cNvPr id="5" name="Shape 3"/>
          <p:cNvSpPr/>
          <p:nvPr/>
        </p:nvSpPr>
        <p:spPr>
          <a:xfrm>
            <a:off x="685800" y="2011680"/>
            <a:ext cx="4709160" cy="3291840"/>
          </a:xfrm>
          <a:prstGeom prst="roundRect">
            <a:avLst>
              <a:gd name="adj" fmla="val 2222"/>
            </a:avLst>
          </a:prstGeom>
          <a:solidFill>
            <a:srgbClr val="FFFFFF"/>
          </a:solidFill>
          <a:ln w="12700">
            <a:solidFill>
              <a:srgbClr val="D4DFEA"/>
            </a:solidFill>
            <a:prstDash val="solid"/>
          </a:ln>
        </p:spPr>
      </p:sp>
      <p:sp>
        <p:nvSpPr>
          <p:cNvPr id="6" name="Text 4"/>
          <p:cNvSpPr/>
          <p:nvPr/>
        </p:nvSpPr>
        <p:spPr>
          <a:xfrm>
            <a:off x="1051560" y="2359152"/>
            <a:ext cx="2926080" cy="320040"/>
          </a:xfrm>
          <a:prstGeom prst="rect">
            <a:avLst/>
          </a:prstGeom>
          <a:noFill/>
          <a:ln/>
        </p:spPr>
        <p:txBody>
          <a:bodyPr wrap="square" lIns="0" tIns="0" rIns="0" bIns="0" rtlCol="0" anchor="ctr"/>
          <a:lstStyle/>
          <a:p>
            <a:pPr indent="0" marL="0">
              <a:buNone/>
            </a:pPr>
            <a:r>
              <a:rPr lang="en-US" sz="2000" b="1" dirty="0">
                <a:solidFill>
                  <a:srgbClr val="102A43"/>
                </a:solidFill>
              </a:rPr>
              <a:t>SecureExamClient</a:t>
            </a:r>
            <a:endParaRPr lang="en-US" sz="2000" dirty="0"/>
          </a:p>
        </p:txBody>
      </p:sp>
      <p:sp>
        <p:nvSpPr>
          <p:cNvPr id="7" name="Text 5"/>
          <p:cNvSpPr/>
          <p:nvPr/>
        </p:nvSpPr>
        <p:spPr>
          <a:xfrm>
            <a:off x="1051560" y="2926080"/>
            <a:ext cx="3291840" cy="1143000"/>
          </a:xfrm>
          <a:prstGeom prst="rect">
            <a:avLst/>
          </a:prstGeom>
          <a:noFill/>
          <a:ln/>
        </p:spPr>
        <p:txBody>
          <a:bodyPr wrap="square" lIns="0" tIns="0" rIns="0" bIns="0" rtlCol="0" anchor="ctr"/>
          <a:lstStyle/>
          <a:p>
            <a:pPr indent="0" marL="0">
              <a:buNone/>
            </a:pPr>
            <a:r>
              <a:rPr lang="en-US" sz="1600" dirty="0">
                <a:solidFill>
                  <a:srgbClr val="23374D"/>
                </a:solidFill>
              </a:rPr>
              <a:t>Checking camera…</a:t>
            </a:r>
            <a:endParaRPr lang="en-US" sz="1600" dirty="0"/>
          </a:p>
          <a:p>
            <a:pPr indent="0" marL="0">
              <a:buNone/>
            </a:pPr>
            <a:r>
              <a:rPr lang="en-US" sz="1600" dirty="0">
                <a:solidFill>
                  <a:srgbClr val="23374D"/>
                </a:solidFill>
              </a:rPr>
              <a:t>Downloading configuration…</a:t>
            </a:r>
            <a:endParaRPr lang="en-US" sz="1600" dirty="0"/>
          </a:p>
          <a:p>
            <a:pPr indent="0" marL="0">
              <a:buNone/>
            </a:pPr>
            <a:r>
              <a:rPr lang="en-US" sz="1600" dirty="0">
                <a:solidFill>
                  <a:srgbClr val="23374D"/>
                </a:solidFill>
              </a:rPr>
              <a:t>Starting browser…</a:t>
            </a:r>
            <a:endParaRPr lang="en-US" sz="1600" dirty="0"/>
          </a:p>
        </p:txBody>
      </p:sp>
      <p:sp>
        <p:nvSpPr>
          <p:cNvPr id="8" name="Text 6"/>
          <p:cNvSpPr/>
          <p:nvPr/>
        </p:nvSpPr>
        <p:spPr>
          <a:xfrm>
            <a:off x="1051560" y="4526280"/>
            <a:ext cx="3566160" cy="384048"/>
          </a:xfrm>
          <a:prstGeom prst="rect">
            <a:avLst/>
          </a:prstGeom>
          <a:noFill/>
          <a:ln/>
        </p:spPr>
        <p:txBody>
          <a:bodyPr wrap="square" lIns="0" tIns="0" rIns="0" bIns="0" rtlCol="0" anchor="ctr"/>
          <a:lstStyle/>
          <a:p>
            <a:pPr indent="0" marL="0">
              <a:buNone/>
            </a:pPr>
            <a:r>
              <a:rPr lang="en-US" sz="2200" b="1" dirty="0">
                <a:solidFill>
                  <a:srgbClr val="E5484D"/>
                </a:solidFill>
              </a:rPr>
              <a:t>NOT RESPONDING</a:t>
            </a:r>
            <a:endParaRPr lang="en-US" sz="2200" dirty="0"/>
          </a:p>
        </p:txBody>
      </p:sp>
      <p:sp>
        <p:nvSpPr>
          <p:cNvPr id="9" name="Shape 7"/>
          <p:cNvSpPr/>
          <p:nvPr/>
        </p:nvSpPr>
        <p:spPr>
          <a:xfrm>
            <a:off x="6126480" y="2011680"/>
            <a:ext cx="5074920" cy="3291840"/>
          </a:xfrm>
          <a:prstGeom prst="roundRect">
            <a:avLst>
              <a:gd name="adj" fmla="val 2222"/>
            </a:avLst>
          </a:prstGeom>
          <a:solidFill>
            <a:srgbClr val="0B1623"/>
          </a:solidFill>
          <a:ln w="12700">
            <a:solidFill>
              <a:srgbClr val="22364A"/>
            </a:solidFill>
            <a:prstDash val="solid"/>
          </a:ln>
        </p:spPr>
      </p:sp>
      <p:sp>
        <p:nvSpPr>
          <p:cNvPr id="10" name="Text 8"/>
          <p:cNvSpPr/>
          <p:nvPr/>
        </p:nvSpPr>
        <p:spPr>
          <a:xfrm>
            <a:off x="6291072" y="2148840"/>
            <a:ext cx="4745736" cy="301752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private void StartExam()</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PerformSystemChecks();</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DownloadConfiguration();</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StartBrowser();</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p:txBody>
      </p:sp>
      <p:sp>
        <p:nvSpPr>
          <p:cNvPr id="11" name="Shape 9"/>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2" name="Text 10"/>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03:05–03:35</a:t>
            </a:r>
            <a:endParaRPr lang="en-US" sz="1000" dirty="0"/>
          </a:p>
        </p:txBody>
      </p:sp>
      <p:sp>
        <p:nvSpPr>
          <p:cNvPr id="13" name="Text 11"/>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Cursor freezes; red warning appears</a:t>
            </a:r>
            <a:endParaRPr lang="en-US" sz="950" dirty="0"/>
          </a:p>
        </p:txBody>
      </p:sp>
      <p:sp>
        <p:nvSpPr>
          <p:cNvPr id="14" name="Text 12"/>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Ask “what happened?”</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08</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Async keeps the experience responsive</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Await I/O; reserve Task.Run for appropriate CPU-bound synchronous work.</a:t>
            </a:r>
            <a:endParaRPr lang="en-US" sz="1350" dirty="0"/>
          </a:p>
        </p:txBody>
      </p:sp>
      <p:sp>
        <p:nvSpPr>
          <p:cNvPr id="5" name="Shape 3"/>
          <p:cNvSpPr/>
          <p:nvPr/>
        </p:nvSpPr>
        <p:spPr>
          <a:xfrm>
            <a:off x="594360" y="1993392"/>
            <a:ext cx="5715000" cy="3429000"/>
          </a:xfrm>
          <a:prstGeom prst="roundRect">
            <a:avLst>
              <a:gd name="adj" fmla="val 2133"/>
            </a:avLst>
          </a:prstGeom>
          <a:solidFill>
            <a:srgbClr val="0B1623"/>
          </a:solidFill>
          <a:ln w="12700">
            <a:solidFill>
              <a:srgbClr val="22364A"/>
            </a:solidFill>
            <a:prstDash val="solid"/>
          </a:ln>
        </p:spPr>
      </p:sp>
      <p:sp>
        <p:nvSpPr>
          <p:cNvPr id="6" name="Text 4"/>
          <p:cNvSpPr/>
          <p:nvPr/>
        </p:nvSpPr>
        <p:spPr>
          <a:xfrm>
            <a:off x="758952" y="2130552"/>
            <a:ext cx="5385816" cy="315468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public async Task StartExamAsync()</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Status = "Checking system...";</a:t>
            </a:r>
            <a:endParaRPr lang="en-US" sz="1200" dirty="0"/>
          </a:p>
          <a:p>
            <a:pPr indent="0" marL="0">
              <a:buNone/>
            </a:pP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var passed = await checks.RunAsync();</a:t>
            </a:r>
            <a:endParaRPr lang="en-US" sz="1200" dirty="0"/>
          </a:p>
          <a:p>
            <a:pPr indent="0" marL="0">
              <a:buNone/>
            </a:pP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Status = passed ? "Ready" : "Failed";</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p:txBody>
      </p:sp>
      <p:sp>
        <p:nvSpPr>
          <p:cNvPr id="7" name="Shape 5"/>
          <p:cNvSpPr/>
          <p:nvPr/>
        </p:nvSpPr>
        <p:spPr>
          <a:xfrm>
            <a:off x="6903720" y="2148840"/>
            <a:ext cx="4023360" cy="621792"/>
          </a:xfrm>
          <a:prstGeom prst="roundRect">
            <a:avLst>
              <a:gd name="adj" fmla="val 8824"/>
            </a:avLst>
          </a:prstGeom>
          <a:solidFill>
            <a:srgbClr val="FFFFFF"/>
          </a:solidFill>
          <a:ln w="17780">
            <a:solidFill>
              <a:srgbClr val="1677FF"/>
            </a:solidFill>
            <a:prstDash val="solid"/>
          </a:ln>
        </p:spPr>
      </p:sp>
      <p:sp>
        <p:nvSpPr>
          <p:cNvPr id="8" name="Text 6"/>
          <p:cNvSpPr/>
          <p:nvPr/>
        </p:nvSpPr>
        <p:spPr>
          <a:xfrm>
            <a:off x="7178040" y="2350008"/>
            <a:ext cx="3474720" cy="201168"/>
          </a:xfrm>
          <a:prstGeom prst="rect">
            <a:avLst/>
          </a:prstGeom>
          <a:noFill/>
          <a:ln/>
        </p:spPr>
        <p:txBody>
          <a:bodyPr wrap="square" lIns="0" tIns="0" rIns="0" bIns="0" rtlCol="0" anchor="ctr"/>
          <a:lstStyle/>
          <a:p>
            <a:pPr algn="ctr" indent="0" marL="0">
              <a:buNone/>
            </a:pPr>
            <a:r>
              <a:rPr lang="en-US" sz="1500" b="1" dirty="0">
                <a:solidFill>
                  <a:srgbClr val="1677FF"/>
                </a:solidFill>
              </a:rPr>
              <a:t>UI remains responsive</a:t>
            </a:r>
            <a:endParaRPr lang="en-US" sz="1500" dirty="0"/>
          </a:p>
        </p:txBody>
      </p:sp>
      <p:sp>
        <p:nvSpPr>
          <p:cNvPr id="9" name="Shape 7"/>
          <p:cNvSpPr/>
          <p:nvPr/>
        </p:nvSpPr>
        <p:spPr>
          <a:xfrm>
            <a:off x="6903720" y="3108960"/>
            <a:ext cx="4023360" cy="621792"/>
          </a:xfrm>
          <a:prstGeom prst="roundRect">
            <a:avLst>
              <a:gd name="adj" fmla="val 8824"/>
            </a:avLst>
          </a:prstGeom>
          <a:solidFill>
            <a:srgbClr val="FFFFFF"/>
          </a:solidFill>
          <a:ln w="17780">
            <a:solidFill>
              <a:srgbClr val="6C63FF"/>
            </a:solidFill>
            <a:prstDash val="solid"/>
          </a:ln>
        </p:spPr>
      </p:sp>
      <p:sp>
        <p:nvSpPr>
          <p:cNvPr id="10" name="Text 8"/>
          <p:cNvSpPr/>
          <p:nvPr/>
        </p:nvSpPr>
        <p:spPr>
          <a:xfrm>
            <a:off x="7178040" y="3310128"/>
            <a:ext cx="3474720" cy="201168"/>
          </a:xfrm>
          <a:prstGeom prst="rect">
            <a:avLst/>
          </a:prstGeom>
          <a:noFill/>
          <a:ln/>
        </p:spPr>
        <p:txBody>
          <a:bodyPr wrap="square" lIns="0" tIns="0" rIns="0" bIns="0" rtlCol="0" anchor="ctr"/>
          <a:lstStyle/>
          <a:p>
            <a:pPr algn="ctr" indent="0" marL="0">
              <a:buNone/>
            </a:pPr>
            <a:r>
              <a:rPr lang="en-US" sz="1500" b="1" dirty="0">
                <a:solidFill>
                  <a:srgbClr val="6C63FF"/>
                </a:solidFill>
              </a:rPr>
              <a:t>Operation completes</a:t>
            </a:r>
            <a:endParaRPr lang="en-US" sz="1500" dirty="0"/>
          </a:p>
        </p:txBody>
      </p:sp>
      <p:sp>
        <p:nvSpPr>
          <p:cNvPr id="11" name="Shape 9"/>
          <p:cNvSpPr/>
          <p:nvPr/>
        </p:nvSpPr>
        <p:spPr>
          <a:xfrm>
            <a:off x="6903720" y="4069080"/>
            <a:ext cx="4023360" cy="621792"/>
          </a:xfrm>
          <a:prstGeom prst="roundRect">
            <a:avLst>
              <a:gd name="adj" fmla="val 8824"/>
            </a:avLst>
          </a:prstGeom>
          <a:solidFill>
            <a:srgbClr val="FFFFFF"/>
          </a:solidFill>
          <a:ln w="17780">
            <a:solidFill>
              <a:srgbClr val="16A085"/>
            </a:solidFill>
            <a:prstDash val="solid"/>
          </a:ln>
        </p:spPr>
      </p:sp>
      <p:sp>
        <p:nvSpPr>
          <p:cNvPr id="12" name="Text 10"/>
          <p:cNvSpPr/>
          <p:nvPr/>
        </p:nvSpPr>
        <p:spPr>
          <a:xfrm>
            <a:off x="7178040" y="4270248"/>
            <a:ext cx="3474720" cy="201168"/>
          </a:xfrm>
          <a:prstGeom prst="rect">
            <a:avLst/>
          </a:prstGeom>
          <a:noFill/>
          <a:ln/>
        </p:spPr>
        <p:txBody>
          <a:bodyPr wrap="square" lIns="0" tIns="0" rIns="0" bIns="0" rtlCol="0" anchor="ctr"/>
          <a:lstStyle/>
          <a:p>
            <a:pPr algn="ctr" indent="0" marL="0">
              <a:buNone/>
            </a:pPr>
            <a:r>
              <a:rPr lang="en-US" sz="1500" b="1" dirty="0">
                <a:solidFill>
                  <a:srgbClr val="16A085"/>
                </a:solidFill>
              </a:rPr>
              <a:t>Continuation updates state</a:t>
            </a:r>
            <a:endParaRPr lang="en-US" sz="1500" dirty="0"/>
          </a:p>
        </p:txBody>
      </p:sp>
      <p:sp>
        <p:nvSpPr>
          <p:cNvPr id="13" name="Text 11"/>
          <p:cNvSpPr/>
          <p:nvPr/>
        </p:nvSpPr>
        <p:spPr>
          <a:xfrm>
            <a:off x="7040880" y="5138928"/>
            <a:ext cx="3749040" cy="274320"/>
          </a:xfrm>
          <a:prstGeom prst="rect">
            <a:avLst/>
          </a:prstGeom>
          <a:noFill/>
          <a:ln/>
        </p:spPr>
        <p:txBody>
          <a:bodyPr wrap="square" lIns="0" tIns="0" rIns="0" bIns="0" rtlCol="0" anchor="ctr"/>
          <a:lstStyle/>
          <a:p>
            <a:pPr algn="ctr" indent="0" marL="0">
              <a:buNone/>
            </a:pPr>
            <a:r>
              <a:rPr lang="en-US" sz="1600" b="1" dirty="0">
                <a:solidFill>
                  <a:srgbClr val="E5484D"/>
                </a:solidFill>
              </a:rPr>
              <a:t>Task ≠ dedicated new thread</a:t>
            </a:r>
            <a:endParaRPr lang="en-US" sz="1600" dirty="0"/>
          </a:p>
        </p:txBody>
      </p:sp>
      <p:sp>
        <p:nvSpPr>
          <p:cNvPr id="14" name="Shape 12"/>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5" name="Text 13"/>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03:35–04:15</a:t>
            </a:r>
            <a:endParaRPr lang="en-US" sz="1000" dirty="0"/>
          </a:p>
        </p:txBody>
      </p:sp>
      <p:sp>
        <p:nvSpPr>
          <p:cNvPr id="16" name="Text 14"/>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Animate await flow downward</a:t>
            </a:r>
            <a:endParaRPr lang="en-US" sz="950" dirty="0"/>
          </a:p>
        </p:txBody>
      </p:sp>
      <p:sp>
        <p:nvSpPr>
          <p:cNvPr id="17" name="Text 15"/>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Correct common interview misconception</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09</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Dispatcher protects UI access</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Background callbacks should not directly manipulate WPF controls.</a:t>
            </a:r>
            <a:endParaRPr lang="en-US" sz="1350" dirty="0"/>
          </a:p>
        </p:txBody>
      </p:sp>
      <p:sp>
        <p:nvSpPr>
          <p:cNvPr id="5" name="Shape 3"/>
          <p:cNvSpPr/>
          <p:nvPr/>
        </p:nvSpPr>
        <p:spPr>
          <a:xfrm>
            <a:off x="731520" y="2240280"/>
            <a:ext cx="2148840" cy="1143000"/>
          </a:xfrm>
          <a:prstGeom prst="ellipse">
            <a:avLst/>
          </a:prstGeom>
          <a:solidFill>
            <a:srgbClr val="FDECEC"/>
          </a:solidFill>
          <a:ln w="19050">
            <a:solidFill>
              <a:srgbClr val="E5484D"/>
            </a:solidFill>
            <a:prstDash val="solid"/>
          </a:ln>
        </p:spPr>
      </p:sp>
      <p:sp>
        <p:nvSpPr>
          <p:cNvPr id="6" name="Text 4"/>
          <p:cNvSpPr/>
          <p:nvPr/>
        </p:nvSpPr>
        <p:spPr>
          <a:xfrm>
            <a:off x="1143000" y="2542032"/>
            <a:ext cx="1325880" cy="457200"/>
          </a:xfrm>
          <a:prstGeom prst="rect">
            <a:avLst/>
          </a:prstGeom>
          <a:noFill/>
          <a:ln/>
        </p:spPr>
        <p:txBody>
          <a:bodyPr wrap="square" lIns="0" tIns="0" rIns="0" bIns="0" rtlCol="0" anchor="ctr"/>
          <a:lstStyle/>
          <a:p>
            <a:pPr algn="ctr" indent="0" marL="0">
              <a:buNone/>
            </a:pPr>
            <a:r>
              <a:rPr lang="en-US" sz="1700" b="1" dirty="0">
                <a:solidFill>
                  <a:srgbClr val="E5484D"/>
                </a:solidFill>
              </a:rPr>
              <a:t>Background</a:t>
            </a:r>
            <a:endParaRPr lang="en-US" sz="1700" dirty="0"/>
          </a:p>
          <a:p>
            <a:pPr algn="ctr" indent="0" marL="0">
              <a:buNone/>
            </a:pPr>
            <a:r>
              <a:rPr lang="en-US" sz="1700" b="1" dirty="0">
                <a:solidFill>
                  <a:srgbClr val="E5484D"/>
                </a:solidFill>
              </a:rPr>
              <a:t>callback</a:t>
            </a:r>
            <a:endParaRPr lang="en-US" sz="1700" dirty="0"/>
          </a:p>
        </p:txBody>
      </p:sp>
      <p:sp>
        <p:nvSpPr>
          <p:cNvPr id="7" name="Shape 5"/>
          <p:cNvSpPr/>
          <p:nvPr/>
        </p:nvSpPr>
        <p:spPr>
          <a:xfrm>
            <a:off x="3063240" y="2514600"/>
            <a:ext cx="1280160" cy="566928"/>
          </a:xfrm>
          <a:prstGeom prst="rightArrow">
            <a:avLst/>
          </a:prstGeom>
          <a:solidFill>
            <a:srgbClr val="26C6DA"/>
          </a:solidFill>
          <a:ln w="12700">
            <a:solidFill>
              <a:srgbClr val="26C6DA"/>
            </a:solidFill>
            <a:prstDash val="solid"/>
          </a:ln>
        </p:spPr>
      </p:sp>
      <p:sp>
        <p:nvSpPr>
          <p:cNvPr id="8" name="Shape 6"/>
          <p:cNvSpPr/>
          <p:nvPr/>
        </p:nvSpPr>
        <p:spPr>
          <a:xfrm>
            <a:off x="4617720" y="2167128"/>
            <a:ext cx="2286000" cy="1261872"/>
          </a:xfrm>
          <a:prstGeom prst="roundRect">
            <a:avLst>
              <a:gd name="adj" fmla="val 5797"/>
            </a:avLst>
          </a:prstGeom>
          <a:solidFill>
            <a:srgbClr val="EEEAFE"/>
          </a:solidFill>
          <a:ln w="19050">
            <a:solidFill>
              <a:srgbClr val="6C63FF"/>
            </a:solidFill>
            <a:prstDash val="solid"/>
          </a:ln>
        </p:spPr>
      </p:sp>
      <p:sp>
        <p:nvSpPr>
          <p:cNvPr id="9" name="Text 7"/>
          <p:cNvSpPr/>
          <p:nvPr/>
        </p:nvSpPr>
        <p:spPr>
          <a:xfrm>
            <a:off x="4983480" y="2587752"/>
            <a:ext cx="1554480" cy="256032"/>
          </a:xfrm>
          <a:prstGeom prst="rect">
            <a:avLst/>
          </a:prstGeom>
          <a:noFill/>
          <a:ln/>
        </p:spPr>
        <p:txBody>
          <a:bodyPr wrap="square" lIns="0" tIns="0" rIns="0" bIns="0" rtlCol="0" anchor="ctr"/>
          <a:lstStyle/>
          <a:p>
            <a:pPr algn="ctr" indent="0" marL="0">
              <a:buNone/>
            </a:pPr>
            <a:r>
              <a:rPr lang="en-US" sz="2000" b="1" dirty="0">
                <a:solidFill>
                  <a:srgbClr val="6C63FF"/>
                </a:solidFill>
              </a:rPr>
              <a:t>Dispatcher</a:t>
            </a:r>
            <a:endParaRPr lang="en-US" sz="2000" dirty="0"/>
          </a:p>
        </p:txBody>
      </p:sp>
      <p:sp>
        <p:nvSpPr>
          <p:cNvPr id="10" name="Shape 8"/>
          <p:cNvSpPr/>
          <p:nvPr/>
        </p:nvSpPr>
        <p:spPr>
          <a:xfrm>
            <a:off x="7178040" y="2514600"/>
            <a:ext cx="1280160" cy="566928"/>
          </a:xfrm>
          <a:prstGeom prst="rightArrow">
            <a:avLst/>
          </a:prstGeom>
          <a:solidFill>
            <a:srgbClr val="26C6DA"/>
          </a:solidFill>
          <a:ln w="12700">
            <a:solidFill>
              <a:srgbClr val="26C6DA"/>
            </a:solidFill>
            <a:prstDash val="solid"/>
          </a:ln>
        </p:spPr>
      </p:sp>
      <p:sp>
        <p:nvSpPr>
          <p:cNvPr id="11" name="Shape 9"/>
          <p:cNvSpPr/>
          <p:nvPr/>
        </p:nvSpPr>
        <p:spPr>
          <a:xfrm>
            <a:off x="8759952" y="2167128"/>
            <a:ext cx="2423160" cy="1261872"/>
          </a:xfrm>
          <a:prstGeom prst="roundRect">
            <a:avLst>
              <a:gd name="adj" fmla="val 5797"/>
            </a:avLst>
          </a:prstGeom>
          <a:solidFill>
            <a:srgbClr val="DFF7F1"/>
          </a:solidFill>
          <a:ln w="19050">
            <a:solidFill>
              <a:srgbClr val="16A085"/>
            </a:solidFill>
            <a:prstDash val="solid"/>
          </a:ln>
        </p:spPr>
      </p:sp>
      <p:sp>
        <p:nvSpPr>
          <p:cNvPr id="12" name="Text 10"/>
          <p:cNvSpPr/>
          <p:nvPr/>
        </p:nvSpPr>
        <p:spPr>
          <a:xfrm>
            <a:off x="9189720" y="2450592"/>
            <a:ext cx="1572768" cy="530352"/>
          </a:xfrm>
          <a:prstGeom prst="rect">
            <a:avLst/>
          </a:prstGeom>
          <a:noFill/>
          <a:ln/>
        </p:spPr>
        <p:txBody>
          <a:bodyPr wrap="square" lIns="0" tIns="0" rIns="0" bIns="0" rtlCol="0" anchor="ctr"/>
          <a:lstStyle/>
          <a:p>
            <a:pPr algn="ctr" indent="0" marL="0">
              <a:buNone/>
            </a:pPr>
            <a:r>
              <a:rPr lang="en-US" sz="1700" b="1" dirty="0">
                <a:solidFill>
                  <a:srgbClr val="16A085"/>
                </a:solidFill>
              </a:rPr>
              <a:t>WPF UI</a:t>
            </a:r>
            <a:endParaRPr lang="en-US" sz="1700" dirty="0"/>
          </a:p>
          <a:p>
            <a:pPr algn="ctr" indent="0" marL="0">
              <a:buNone/>
            </a:pPr>
            <a:r>
              <a:rPr lang="en-US" sz="1700" b="1" dirty="0">
                <a:solidFill>
                  <a:srgbClr val="16A085"/>
                </a:solidFill>
              </a:rPr>
              <a:t>“Exam Ready”</a:t>
            </a:r>
            <a:endParaRPr lang="en-US" sz="1700" dirty="0"/>
          </a:p>
        </p:txBody>
      </p:sp>
      <p:sp>
        <p:nvSpPr>
          <p:cNvPr id="13" name="Shape 11"/>
          <p:cNvSpPr/>
          <p:nvPr/>
        </p:nvSpPr>
        <p:spPr>
          <a:xfrm>
            <a:off x="1920240" y="3995928"/>
            <a:ext cx="8321040" cy="1143000"/>
          </a:xfrm>
          <a:prstGeom prst="roundRect">
            <a:avLst>
              <a:gd name="adj" fmla="val 6400"/>
            </a:avLst>
          </a:prstGeom>
          <a:solidFill>
            <a:srgbClr val="0B1623"/>
          </a:solidFill>
          <a:ln w="12700">
            <a:solidFill>
              <a:srgbClr val="22364A"/>
            </a:solidFill>
            <a:prstDash val="solid"/>
          </a:ln>
        </p:spPr>
      </p:sp>
      <p:sp>
        <p:nvSpPr>
          <p:cNvPr id="14" name="Text 12"/>
          <p:cNvSpPr/>
          <p:nvPr/>
        </p:nvSpPr>
        <p:spPr>
          <a:xfrm>
            <a:off x="2084832" y="4133088"/>
            <a:ext cx="7991856" cy="86868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await Application.Current.Dispatcher.InvokeAsync(() =&gt;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Status = "Exam Ready";</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p:txBody>
      </p:sp>
      <p:sp>
        <p:nvSpPr>
          <p:cNvPr id="15" name="Shape 13"/>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6" name="Text 14"/>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04:15–04:55</a:t>
            </a:r>
            <a:endParaRPr lang="en-US" sz="1000" dirty="0"/>
          </a:p>
        </p:txBody>
      </p:sp>
      <p:sp>
        <p:nvSpPr>
          <p:cNvPr id="17" name="Text 15"/>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Highlight thread boundary and safe hop</a:t>
            </a:r>
            <a:endParaRPr lang="en-US" sz="950" dirty="0"/>
          </a:p>
        </p:txBody>
      </p:sp>
      <p:sp>
        <p:nvSpPr>
          <p:cNvPr id="18" name="Text 16"/>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Pause after “Dispatcher”</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10</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Native Windows integration</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P/Invoke lets managed C# call compatible native functions.</a:t>
            </a:r>
            <a:endParaRPr lang="en-US" sz="1350" dirty="0"/>
          </a:p>
        </p:txBody>
      </p:sp>
      <p:sp>
        <p:nvSpPr>
          <p:cNvPr id="5" name="Shape 3"/>
          <p:cNvSpPr/>
          <p:nvPr/>
        </p:nvSpPr>
        <p:spPr>
          <a:xfrm>
            <a:off x="594360" y="1993392"/>
            <a:ext cx="6035040" cy="3429000"/>
          </a:xfrm>
          <a:prstGeom prst="roundRect">
            <a:avLst>
              <a:gd name="adj" fmla="val 2133"/>
            </a:avLst>
          </a:prstGeom>
          <a:solidFill>
            <a:srgbClr val="0B1623"/>
          </a:solidFill>
          <a:ln w="12700">
            <a:solidFill>
              <a:srgbClr val="22364A"/>
            </a:solidFill>
            <a:prstDash val="solid"/>
          </a:ln>
        </p:spPr>
      </p:sp>
      <p:sp>
        <p:nvSpPr>
          <p:cNvPr id="6" name="Text 4"/>
          <p:cNvSpPr/>
          <p:nvPr/>
        </p:nvSpPr>
        <p:spPr>
          <a:xfrm>
            <a:off x="758952" y="2130552"/>
            <a:ext cx="5705856" cy="315468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[DllImport("user32.dll")]</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static extern IntPtr GetForegroundWindow();</a:t>
            </a:r>
            <a:endParaRPr lang="en-US" sz="1200" dirty="0"/>
          </a:p>
          <a:p>
            <a:pPr indent="0" marL="0">
              <a:buNone/>
            </a:pP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[DllImport("SecurityEngine.dll",</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CallingConvention = CallingConvention.Cdecl)]</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static extern int VerifyEnvironment();</a:t>
            </a:r>
            <a:endParaRPr lang="en-US" sz="1200" dirty="0"/>
          </a:p>
        </p:txBody>
      </p:sp>
      <p:sp>
        <p:nvSpPr>
          <p:cNvPr id="7" name="Shape 5"/>
          <p:cNvSpPr/>
          <p:nvPr/>
        </p:nvSpPr>
        <p:spPr>
          <a:xfrm>
            <a:off x="7452360" y="2057400"/>
            <a:ext cx="3063240" cy="621792"/>
          </a:xfrm>
          <a:prstGeom prst="roundRect">
            <a:avLst>
              <a:gd name="adj" fmla="val 8824"/>
            </a:avLst>
          </a:prstGeom>
          <a:solidFill>
            <a:srgbClr val="FFFFFF"/>
          </a:solidFill>
          <a:ln w="19050">
            <a:solidFill>
              <a:srgbClr val="1677FF"/>
            </a:solidFill>
            <a:prstDash val="solid"/>
          </a:ln>
        </p:spPr>
      </p:sp>
      <p:sp>
        <p:nvSpPr>
          <p:cNvPr id="8" name="Text 6"/>
          <p:cNvSpPr/>
          <p:nvPr/>
        </p:nvSpPr>
        <p:spPr>
          <a:xfrm>
            <a:off x="7699248" y="2267712"/>
            <a:ext cx="2560320" cy="201168"/>
          </a:xfrm>
          <a:prstGeom prst="rect">
            <a:avLst/>
          </a:prstGeom>
          <a:noFill/>
          <a:ln/>
        </p:spPr>
        <p:txBody>
          <a:bodyPr wrap="square" lIns="0" tIns="0" rIns="0" bIns="0" rtlCol="0" anchor="ctr"/>
          <a:lstStyle/>
          <a:p>
            <a:pPr algn="ctr" indent="0" marL="0">
              <a:buNone/>
            </a:pPr>
            <a:r>
              <a:rPr lang="en-US" sz="1500" b="1" dirty="0">
                <a:solidFill>
                  <a:srgbClr val="1677FF"/>
                </a:solidFill>
              </a:rPr>
              <a:t>C# / CLR</a:t>
            </a:r>
            <a:endParaRPr lang="en-US" sz="1500" dirty="0"/>
          </a:p>
        </p:txBody>
      </p:sp>
      <p:sp>
        <p:nvSpPr>
          <p:cNvPr id="9" name="Shape 7"/>
          <p:cNvSpPr/>
          <p:nvPr/>
        </p:nvSpPr>
        <p:spPr>
          <a:xfrm>
            <a:off x="8714232" y="2697480"/>
            <a:ext cx="530352" cy="365760"/>
          </a:xfrm>
          <a:prstGeom prst="downArrow">
            <a:avLst/>
          </a:prstGeom>
          <a:solidFill>
            <a:srgbClr val="26C6DA"/>
          </a:solidFill>
          <a:ln w="12700">
            <a:solidFill>
              <a:srgbClr val="26C6DA"/>
            </a:solidFill>
            <a:prstDash val="solid"/>
          </a:ln>
        </p:spPr>
      </p:sp>
      <p:sp>
        <p:nvSpPr>
          <p:cNvPr id="10" name="Shape 8"/>
          <p:cNvSpPr/>
          <p:nvPr/>
        </p:nvSpPr>
        <p:spPr>
          <a:xfrm>
            <a:off x="7452360" y="3063240"/>
            <a:ext cx="3063240" cy="621792"/>
          </a:xfrm>
          <a:prstGeom prst="roundRect">
            <a:avLst>
              <a:gd name="adj" fmla="val 8824"/>
            </a:avLst>
          </a:prstGeom>
          <a:solidFill>
            <a:srgbClr val="FFFFFF"/>
          </a:solidFill>
          <a:ln w="19050">
            <a:solidFill>
              <a:srgbClr val="6C63FF"/>
            </a:solidFill>
            <a:prstDash val="solid"/>
          </a:ln>
        </p:spPr>
      </p:sp>
      <p:sp>
        <p:nvSpPr>
          <p:cNvPr id="11" name="Text 9"/>
          <p:cNvSpPr/>
          <p:nvPr/>
        </p:nvSpPr>
        <p:spPr>
          <a:xfrm>
            <a:off x="7699248" y="3273552"/>
            <a:ext cx="2560320" cy="201168"/>
          </a:xfrm>
          <a:prstGeom prst="rect">
            <a:avLst/>
          </a:prstGeom>
          <a:noFill/>
          <a:ln/>
        </p:spPr>
        <p:txBody>
          <a:bodyPr wrap="square" lIns="0" tIns="0" rIns="0" bIns="0" rtlCol="0" anchor="ctr"/>
          <a:lstStyle/>
          <a:p>
            <a:pPr algn="ctr" indent="0" marL="0">
              <a:buNone/>
            </a:pPr>
            <a:r>
              <a:rPr lang="en-US" sz="1500" b="1" dirty="0">
                <a:solidFill>
                  <a:srgbClr val="6C63FF"/>
                </a:solidFill>
              </a:rPr>
              <a:t>P/Invoke + marshaling</a:t>
            </a:r>
            <a:endParaRPr lang="en-US" sz="1500" dirty="0"/>
          </a:p>
        </p:txBody>
      </p:sp>
      <p:sp>
        <p:nvSpPr>
          <p:cNvPr id="12" name="Shape 10"/>
          <p:cNvSpPr/>
          <p:nvPr/>
        </p:nvSpPr>
        <p:spPr>
          <a:xfrm>
            <a:off x="8714232" y="3703320"/>
            <a:ext cx="530352" cy="365760"/>
          </a:xfrm>
          <a:prstGeom prst="downArrow">
            <a:avLst/>
          </a:prstGeom>
          <a:solidFill>
            <a:srgbClr val="26C6DA"/>
          </a:solidFill>
          <a:ln w="12700">
            <a:solidFill>
              <a:srgbClr val="26C6DA"/>
            </a:solidFill>
            <a:prstDash val="solid"/>
          </a:ln>
        </p:spPr>
      </p:sp>
      <p:sp>
        <p:nvSpPr>
          <p:cNvPr id="13" name="Shape 11"/>
          <p:cNvSpPr/>
          <p:nvPr/>
        </p:nvSpPr>
        <p:spPr>
          <a:xfrm>
            <a:off x="7452360" y="4069080"/>
            <a:ext cx="3063240" cy="621792"/>
          </a:xfrm>
          <a:prstGeom prst="roundRect">
            <a:avLst>
              <a:gd name="adj" fmla="val 8824"/>
            </a:avLst>
          </a:prstGeom>
          <a:solidFill>
            <a:srgbClr val="FFFFFF"/>
          </a:solidFill>
          <a:ln w="19050">
            <a:solidFill>
              <a:srgbClr val="F59E0B"/>
            </a:solidFill>
            <a:prstDash val="solid"/>
          </a:ln>
        </p:spPr>
      </p:sp>
      <p:sp>
        <p:nvSpPr>
          <p:cNvPr id="14" name="Text 12"/>
          <p:cNvSpPr/>
          <p:nvPr/>
        </p:nvSpPr>
        <p:spPr>
          <a:xfrm>
            <a:off x="7699248" y="4279392"/>
            <a:ext cx="2560320" cy="201168"/>
          </a:xfrm>
          <a:prstGeom prst="rect">
            <a:avLst/>
          </a:prstGeom>
          <a:noFill/>
          <a:ln/>
        </p:spPr>
        <p:txBody>
          <a:bodyPr wrap="square" lIns="0" tIns="0" rIns="0" bIns="0" rtlCol="0" anchor="ctr"/>
          <a:lstStyle/>
          <a:p>
            <a:pPr algn="ctr" indent="0" marL="0">
              <a:buNone/>
            </a:pPr>
            <a:r>
              <a:rPr lang="en-US" sz="1500" b="1" dirty="0">
                <a:solidFill>
                  <a:srgbClr val="F59E0B"/>
                </a:solidFill>
              </a:rPr>
              <a:t>Win32 / C++ DLL</a:t>
            </a:r>
            <a:endParaRPr lang="en-US" sz="1500" dirty="0"/>
          </a:p>
        </p:txBody>
      </p:sp>
      <p:sp>
        <p:nvSpPr>
          <p:cNvPr id="15" name="Shape 13"/>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6" name="Text 14"/>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04:55–05:35</a:t>
            </a:r>
            <a:endParaRPr lang="en-US" sz="1000" dirty="0"/>
          </a:p>
        </p:txBody>
      </p:sp>
      <p:sp>
        <p:nvSpPr>
          <p:cNvPr id="17" name="Text 15"/>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Move downward from managed to native</a:t>
            </a:r>
            <a:endParaRPr lang="en-US" sz="950" dirty="0"/>
          </a:p>
        </p:txBody>
      </p:sp>
      <p:sp>
        <p:nvSpPr>
          <p:cNvPr id="18" name="Text 16"/>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Mention x86/x64 mismatch</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11</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Windows Service + IPC</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Separate background or privileged responsibilities from the interactive UI.</a:t>
            </a:r>
            <a:endParaRPr lang="en-US" sz="1350" dirty="0"/>
          </a:p>
        </p:txBody>
      </p:sp>
      <p:sp>
        <p:nvSpPr>
          <p:cNvPr id="5" name="Shape 3"/>
          <p:cNvSpPr/>
          <p:nvPr/>
        </p:nvSpPr>
        <p:spPr>
          <a:xfrm>
            <a:off x="731520" y="2359152"/>
            <a:ext cx="2834640" cy="1417320"/>
          </a:xfrm>
          <a:prstGeom prst="roundRect">
            <a:avLst>
              <a:gd name="adj" fmla="val 5161"/>
            </a:avLst>
          </a:prstGeom>
          <a:solidFill>
            <a:srgbClr val="FFFFFF"/>
          </a:solidFill>
          <a:ln w="20320">
            <a:solidFill>
              <a:srgbClr val="1677FF"/>
            </a:solidFill>
            <a:prstDash val="solid"/>
          </a:ln>
        </p:spPr>
      </p:sp>
      <p:sp>
        <p:nvSpPr>
          <p:cNvPr id="6" name="Text 4"/>
          <p:cNvSpPr/>
          <p:nvPr/>
        </p:nvSpPr>
        <p:spPr>
          <a:xfrm>
            <a:off x="960120" y="2697480"/>
            <a:ext cx="2377440" cy="274320"/>
          </a:xfrm>
          <a:prstGeom prst="rect">
            <a:avLst/>
          </a:prstGeom>
          <a:noFill/>
          <a:ln/>
        </p:spPr>
        <p:txBody>
          <a:bodyPr wrap="square" lIns="0" tIns="0" rIns="0" bIns="0" rtlCol="0" anchor="ctr"/>
          <a:lstStyle/>
          <a:p>
            <a:pPr algn="ctr" indent="0" marL="0">
              <a:buNone/>
            </a:pPr>
            <a:r>
              <a:rPr lang="en-US" sz="2000" b="1" dirty="0">
                <a:solidFill>
                  <a:srgbClr val="1677FF"/>
                </a:solidFill>
              </a:rPr>
              <a:t>WPF Client</a:t>
            </a:r>
            <a:endParaRPr lang="en-US" sz="2000" dirty="0"/>
          </a:p>
        </p:txBody>
      </p:sp>
      <p:sp>
        <p:nvSpPr>
          <p:cNvPr id="7" name="Text 5"/>
          <p:cNvSpPr/>
          <p:nvPr/>
        </p:nvSpPr>
        <p:spPr>
          <a:xfrm>
            <a:off x="960120" y="3182112"/>
            <a:ext cx="2377440" cy="210312"/>
          </a:xfrm>
          <a:prstGeom prst="rect">
            <a:avLst/>
          </a:prstGeom>
          <a:noFill/>
          <a:ln/>
        </p:spPr>
        <p:txBody>
          <a:bodyPr wrap="square" lIns="0" tIns="0" rIns="0" bIns="0" rtlCol="0" anchor="ctr"/>
          <a:lstStyle/>
          <a:p>
            <a:pPr algn="ctr" indent="0" marL="0">
              <a:buNone/>
            </a:pPr>
            <a:r>
              <a:rPr lang="en-US" sz="1200" dirty="0">
                <a:solidFill>
                  <a:srgbClr val="65758B"/>
                </a:solidFill>
              </a:rPr>
              <a:t>Candidate experience</a:t>
            </a:r>
            <a:endParaRPr lang="en-US" sz="1200" dirty="0"/>
          </a:p>
        </p:txBody>
      </p:sp>
      <p:sp>
        <p:nvSpPr>
          <p:cNvPr id="8" name="Shape 6"/>
          <p:cNvSpPr/>
          <p:nvPr/>
        </p:nvSpPr>
        <p:spPr>
          <a:xfrm>
            <a:off x="3767328" y="2788920"/>
            <a:ext cx="457200" cy="457200"/>
          </a:xfrm>
          <a:prstGeom prst="chevron">
            <a:avLst/>
          </a:prstGeom>
          <a:solidFill>
            <a:srgbClr val="26C6DA"/>
          </a:solidFill>
          <a:ln w="12700">
            <a:solidFill>
              <a:srgbClr val="26C6DA"/>
            </a:solidFill>
            <a:prstDash val="solid"/>
          </a:ln>
        </p:spPr>
      </p:sp>
      <p:sp>
        <p:nvSpPr>
          <p:cNvPr id="9" name="Shape 7"/>
          <p:cNvSpPr/>
          <p:nvPr/>
        </p:nvSpPr>
        <p:spPr>
          <a:xfrm>
            <a:off x="4663440" y="2359152"/>
            <a:ext cx="2834640" cy="1417320"/>
          </a:xfrm>
          <a:prstGeom prst="roundRect">
            <a:avLst>
              <a:gd name="adj" fmla="val 5161"/>
            </a:avLst>
          </a:prstGeom>
          <a:solidFill>
            <a:srgbClr val="FFFFFF"/>
          </a:solidFill>
          <a:ln w="20320">
            <a:solidFill>
              <a:srgbClr val="6C63FF"/>
            </a:solidFill>
            <a:prstDash val="solid"/>
          </a:ln>
        </p:spPr>
      </p:sp>
      <p:sp>
        <p:nvSpPr>
          <p:cNvPr id="10" name="Text 8"/>
          <p:cNvSpPr/>
          <p:nvPr/>
        </p:nvSpPr>
        <p:spPr>
          <a:xfrm>
            <a:off x="4892040" y="2697480"/>
            <a:ext cx="2377440" cy="274320"/>
          </a:xfrm>
          <a:prstGeom prst="rect">
            <a:avLst/>
          </a:prstGeom>
          <a:noFill/>
          <a:ln/>
        </p:spPr>
        <p:txBody>
          <a:bodyPr wrap="square" lIns="0" tIns="0" rIns="0" bIns="0" rtlCol="0" anchor="ctr"/>
          <a:lstStyle/>
          <a:p>
            <a:pPr algn="ctr" indent="0" marL="0">
              <a:buNone/>
            </a:pPr>
            <a:r>
              <a:rPr lang="en-US" sz="2000" b="1" dirty="0">
                <a:solidFill>
                  <a:srgbClr val="6C63FF"/>
                </a:solidFill>
              </a:rPr>
              <a:t>Named Pipe</a:t>
            </a:r>
            <a:endParaRPr lang="en-US" sz="2000" dirty="0"/>
          </a:p>
        </p:txBody>
      </p:sp>
      <p:sp>
        <p:nvSpPr>
          <p:cNvPr id="11" name="Text 9"/>
          <p:cNvSpPr/>
          <p:nvPr/>
        </p:nvSpPr>
        <p:spPr>
          <a:xfrm>
            <a:off x="4892040" y="3182112"/>
            <a:ext cx="2377440" cy="210312"/>
          </a:xfrm>
          <a:prstGeom prst="rect">
            <a:avLst/>
          </a:prstGeom>
          <a:noFill/>
          <a:ln/>
        </p:spPr>
        <p:txBody>
          <a:bodyPr wrap="square" lIns="0" tIns="0" rIns="0" bIns="0" rtlCol="0" anchor="ctr"/>
          <a:lstStyle/>
          <a:p>
            <a:pPr algn="ctr" indent="0" marL="0">
              <a:buNone/>
            </a:pPr>
            <a:r>
              <a:rPr lang="en-US" sz="1200" dirty="0">
                <a:solidFill>
                  <a:srgbClr val="65758B"/>
                </a:solidFill>
              </a:rPr>
              <a:t>Local IPC</a:t>
            </a:r>
            <a:endParaRPr lang="en-US" sz="1200" dirty="0"/>
          </a:p>
        </p:txBody>
      </p:sp>
      <p:sp>
        <p:nvSpPr>
          <p:cNvPr id="12" name="Shape 10"/>
          <p:cNvSpPr/>
          <p:nvPr/>
        </p:nvSpPr>
        <p:spPr>
          <a:xfrm>
            <a:off x="7699248" y="2788920"/>
            <a:ext cx="457200" cy="457200"/>
          </a:xfrm>
          <a:prstGeom prst="chevron">
            <a:avLst/>
          </a:prstGeom>
          <a:solidFill>
            <a:srgbClr val="26C6DA"/>
          </a:solidFill>
          <a:ln w="12700">
            <a:solidFill>
              <a:srgbClr val="26C6DA"/>
            </a:solidFill>
            <a:prstDash val="solid"/>
          </a:ln>
        </p:spPr>
      </p:sp>
      <p:sp>
        <p:nvSpPr>
          <p:cNvPr id="13" name="Shape 11"/>
          <p:cNvSpPr/>
          <p:nvPr/>
        </p:nvSpPr>
        <p:spPr>
          <a:xfrm>
            <a:off x="8595360" y="2359152"/>
            <a:ext cx="2834640" cy="1417320"/>
          </a:xfrm>
          <a:prstGeom prst="roundRect">
            <a:avLst>
              <a:gd name="adj" fmla="val 5161"/>
            </a:avLst>
          </a:prstGeom>
          <a:solidFill>
            <a:srgbClr val="FFFFFF"/>
          </a:solidFill>
          <a:ln w="20320">
            <a:solidFill>
              <a:srgbClr val="16A085"/>
            </a:solidFill>
            <a:prstDash val="solid"/>
          </a:ln>
        </p:spPr>
      </p:sp>
      <p:sp>
        <p:nvSpPr>
          <p:cNvPr id="14" name="Text 12"/>
          <p:cNvSpPr/>
          <p:nvPr/>
        </p:nvSpPr>
        <p:spPr>
          <a:xfrm>
            <a:off x="8823960" y="2697480"/>
            <a:ext cx="2377440" cy="274320"/>
          </a:xfrm>
          <a:prstGeom prst="rect">
            <a:avLst/>
          </a:prstGeom>
          <a:noFill/>
          <a:ln/>
        </p:spPr>
        <p:txBody>
          <a:bodyPr wrap="square" lIns="0" tIns="0" rIns="0" bIns="0" rtlCol="0" anchor="ctr"/>
          <a:lstStyle/>
          <a:p>
            <a:pPr algn="ctr" indent="0" marL="0">
              <a:buNone/>
            </a:pPr>
            <a:r>
              <a:rPr lang="en-US" sz="2000" b="1" dirty="0">
                <a:solidFill>
                  <a:srgbClr val="16A085"/>
                </a:solidFill>
              </a:rPr>
              <a:t>Windows Service</a:t>
            </a:r>
            <a:endParaRPr lang="en-US" sz="2000" dirty="0"/>
          </a:p>
        </p:txBody>
      </p:sp>
      <p:sp>
        <p:nvSpPr>
          <p:cNvPr id="15" name="Text 13"/>
          <p:cNvSpPr/>
          <p:nvPr/>
        </p:nvSpPr>
        <p:spPr>
          <a:xfrm>
            <a:off x="8823960" y="3182112"/>
            <a:ext cx="2377440" cy="210312"/>
          </a:xfrm>
          <a:prstGeom prst="rect">
            <a:avLst/>
          </a:prstGeom>
          <a:noFill/>
          <a:ln/>
        </p:spPr>
        <p:txBody>
          <a:bodyPr wrap="square" lIns="0" tIns="0" rIns="0" bIns="0" rtlCol="0" anchor="ctr"/>
          <a:lstStyle/>
          <a:p>
            <a:pPr algn="ctr" indent="0" marL="0">
              <a:buNone/>
            </a:pPr>
            <a:r>
              <a:rPr lang="en-US" sz="1200" dirty="0">
                <a:solidFill>
                  <a:srgbClr val="65758B"/>
                </a:solidFill>
              </a:rPr>
              <a:t>Background responsibility</a:t>
            </a:r>
            <a:endParaRPr lang="en-US" sz="1200" dirty="0"/>
          </a:p>
        </p:txBody>
      </p:sp>
      <p:sp>
        <p:nvSpPr>
          <p:cNvPr id="16" name="Text 14"/>
          <p:cNvSpPr/>
          <p:nvPr/>
        </p:nvSpPr>
        <p:spPr>
          <a:xfrm>
            <a:off x="2834640" y="4343400"/>
            <a:ext cx="6492240" cy="438912"/>
          </a:xfrm>
          <a:prstGeom prst="rect">
            <a:avLst/>
          </a:prstGeom>
          <a:solidFill>
            <a:srgbClr val="EAF2FF"/>
          </a:solidFill>
          <a:ln/>
        </p:spPr>
        <p:txBody>
          <a:bodyPr wrap="square" lIns="635" tIns="635" rIns="635" bIns="635" rtlCol="0" anchor="ctr"/>
          <a:lstStyle/>
          <a:p>
            <a:pPr algn="ctr" indent="0" marL="0">
              <a:buNone/>
            </a:pPr>
            <a:r>
              <a:rPr lang="en-US" sz="1900" b="1" dirty="0">
                <a:solidFill>
                  <a:srgbClr val="102A43"/>
                </a:solidFill>
              </a:rPr>
              <a:t>Example request: “Run environment validation”</a:t>
            </a:r>
            <a:endParaRPr lang="en-US" sz="1900" dirty="0"/>
          </a:p>
        </p:txBody>
      </p:sp>
      <p:sp>
        <p:nvSpPr>
          <p:cNvPr id="17" name="Shape 15"/>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8" name="Text 16"/>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05:35–06:05</a:t>
            </a:r>
            <a:endParaRPr lang="en-US" sz="1000" dirty="0"/>
          </a:p>
        </p:txBody>
      </p:sp>
      <p:sp>
        <p:nvSpPr>
          <p:cNvPr id="19" name="Text 17"/>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Animate request from client to service</a:t>
            </a:r>
            <a:endParaRPr lang="en-US" sz="950" dirty="0"/>
          </a:p>
        </p:txBody>
      </p:sp>
      <p:sp>
        <p:nvSpPr>
          <p:cNvPr id="20" name="Text 18"/>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Clarify separation, not magic security</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12</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CefSharp embeds the exam browser</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Browser callbacks introduce another threading boundary.</a:t>
            </a:r>
            <a:endParaRPr lang="en-US" sz="1350" dirty="0"/>
          </a:p>
        </p:txBody>
      </p:sp>
      <p:sp>
        <p:nvSpPr>
          <p:cNvPr id="5" name="Shape 3"/>
          <p:cNvSpPr/>
          <p:nvPr/>
        </p:nvSpPr>
        <p:spPr>
          <a:xfrm>
            <a:off x="685800" y="1965960"/>
            <a:ext cx="5760720" cy="3520440"/>
          </a:xfrm>
          <a:prstGeom prst="roundRect">
            <a:avLst>
              <a:gd name="adj" fmla="val 2078"/>
            </a:avLst>
          </a:prstGeom>
          <a:solidFill>
            <a:srgbClr val="FFFFFF"/>
          </a:solidFill>
          <a:ln w="12700">
            <a:solidFill>
              <a:srgbClr val="D3DEE9"/>
            </a:solidFill>
            <a:prstDash val="solid"/>
          </a:ln>
        </p:spPr>
      </p:sp>
      <p:sp>
        <p:nvSpPr>
          <p:cNvPr id="6" name="Shape 4"/>
          <p:cNvSpPr/>
          <p:nvPr/>
        </p:nvSpPr>
        <p:spPr>
          <a:xfrm>
            <a:off x="685800" y="1965960"/>
            <a:ext cx="5760720" cy="438912"/>
          </a:xfrm>
          <a:prstGeom prst="rect">
            <a:avLst/>
          </a:prstGeom>
          <a:solidFill>
            <a:srgbClr val="E9EEF5"/>
          </a:solidFill>
          <a:ln w="12700">
            <a:solidFill>
              <a:srgbClr val="E9EEF5"/>
            </a:solidFill>
            <a:prstDash val="solid"/>
          </a:ln>
        </p:spPr>
      </p:sp>
      <p:sp>
        <p:nvSpPr>
          <p:cNvPr id="7" name="Text 5"/>
          <p:cNvSpPr/>
          <p:nvPr/>
        </p:nvSpPr>
        <p:spPr>
          <a:xfrm>
            <a:off x="1097280" y="2112264"/>
            <a:ext cx="2926080" cy="164592"/>
          </a:xfrm>
          <a:prstGeom prst="rect">
            <a:avLst/>
          </a:prstGeom>
          <a:noFill/>
          <a:ln/>
        </p:spPr>
        <p:txBody>
          <a:bodyPr wrap="square" lIns="0" tIns="0" rIns="0" bIns="0" rtlCol="0" anchor="ctr"/>
          <a:lstStyle/>
          <a:p>
            <a:pPr indent="0" marL="0">
              <a:buNone/>
            </a:pPr>
            <a:r>
              <a:rPr lang="en-US" sz="1100" dirty="0">
                <a:solidFill>
                  <a:srgbClr val="65758B"/>
                </a:solidFill>
              </a:rPr>
              <a:t>exam.example/test</a:t>
            </a:r>
            <a:endParaRPr lang="en-US" sz="1100" dirty="0"/>
          </a:p>
        </p:txBody>
      </p:sp>
      <p:sp>
        <p:nvSpPr>
          <p:cNvPr id="8" name="Text 6"/>
          <p:cNvSpPr/>
          <p:nvPr/>
        </p:nvSpPr>
        <p:spPr>
          <a:xfrm>
            <a:off x="1234440" y="2788920"/>
            <a:ext cx="4663440" cy="384048"/>
          </a:xfrm>
          <a:prstGeom prst="rect">
            <a:avLst/>
          </a:prstGeom>
          <a:noFill/>
          <a:ln/>
        </p:spPr>
        <p:txBody>
          <a:bodyPr wrap="square" lIns="0" tIns="0" rIns="0" bIns="0" rtlCol="0" anchor="ctr"/>
          <a:lstStyle/>
          <a:p>
            <a:pPr algn="ctr" indent="0" marL="0">
              <a:buNone/>
            </a:pPr>
            <a:r>
              <a:rPr lang="en-US" sz="2500" b="1" dirty="0">
                <a:solidFill>
                  <a:srgbClr val="102A43"/>
                </a:solidFill>
              </a:rPr>
              <a:t>Online Examination</a:t>
            </a:r>
            <a:endParaRPr lang="en-US" sz="2500" dirty="0"/>
          </a:p>
        </p:txBody>
      </p:sp>
      <p:sp>
        <p:nvSpPr>
          <p:cNvPr id="9" name="Text 7"/>
          <p:cNvSpPr/>
          <p:nvPr/>
        </p:nvSpPr>
        <p:spPr>
          <a:xfrm>
            <a:off x="1463040" y="3429000"/>
            <a:ext cx="4206240" cy="256032"/>
          </a:xfrm>
          <a:prstGeom prst="rect">
            <a:avLst/>
          </a:prstGeom>
          <a:noFill/>
          <a:ln/>
        </p:spPr>
        <p:txBody>
          <a:bodyPr wrap="square" lIns="0" tIns="0" rIns="0" bIns="0" rtlCol="0" anchor="ctr"/>
          <a:lstStyle/>
          <a:p>
            <a:pPr algn="ctr" indent="0" marL="0">
              <a:buNone/>
            </a:pPr>
            <a:r>
              <a:rPr lang="en-US" sz="1500" dirty="0">
                <a:solidFill>
                  <a:srgbClr val="65758B"/>
                </a:solidFill>
              </a:rPr>
              <a:t>Question 08 of 40</a:t>
            </a:r>
            <a:endParaRPr lang="en-US" sz="1500" dirty="0"/>
          </a:p>
        </p:txBody>
      </p:sp>
      <p:sp>
        <p:nvSpPr>
          <p:cNvPr id="10" name="Shape 8"/>
          <p:cNvSpPr/>
          <p:nvPr/>
        </p:nvSpPr>
        <p:spPr>
          <a:xfrm>
            <a:off x="2103120" y="4069080"/>
            <a:ext cx="2926080" cy="530352"/>
          </a:xfrm>
          <a:prstGeom prst="roundRect">
            <a:avLst>
              <a:gd name="adj" fmla="val 8621"/>
            </a:avLst>
          </a:prstGeom>
          <a:solidFill>
            <a:srgbClr val="1677FF"/>
          </a:solidFill>
          <a:ln w="12700">
            <a:solidFill>
              <a:srgbClr val="1677FF"/>
            </a:solidFill>
            <a:prstDash val="solid"/>
          </a:ln>
        </p:spPr>
      </p:sp>
      <p:sp>
        <p:nvSpPr>
          <p:cNvPr id="11" name="Text 9"/>
          <p:cNvSpPr/>
          <p:nvPr/>
        </p:nvSpPr>
        <p:spPr>
          <a:xfrm>
            <a:off x="2514600" y="4251960"/>
            <a:ext cx="2103120" cy="182880"/>
          </a:xfrm>
          <a:prstGeom prst="rect">
            <a:avLst/>
          </a:prstGeom>
          <a:noFill/>
          <a:ln/>
        </p:spPr>
        <p:txBody>
          <a:bodyPr wrap="square" lIns="0" tIns="0" rIns="0" bIns="0" rtlCol="0" anchor="ctr"/>
          <a:lstStyle/>
          <a:p>
            <a:pPr algn="ctr" indent="0" marL="0">
              <a:buNone/>
            </a:pPr>
            <a:r>
              <a:rPr lang="en-US" sz="1400" b="1" dirty="0">
                <a:solidFill>
                  <a:srgbClr val="FFFFFF"/>
                </a:solidFill>
              </a:rPr>
              <a:t>Submit Answer</a:t>
            </a:r>
            <a:endParaRPr lang="en-US" sz="1400" dirty="0"/>
          </a:p>
        </p:txBody>
      </p:sp>
      <p:sp>
        <p:nvSpPr>
          <p:cNvPr id="12" name="Shape 10"/>
          <p:cNvSpPr/>
          <p:nvPr/>
        </p:nvSpPr>
        <p:spPr>
          <a:xfrm>
            <a:off x="6903720" y="2057400"/>
            <a:ext cx="4617720" cy="3246120"/>
          </a:xfrm>
          <a:prstGeom prst="roundRect">
            <a:avLst>
              <a:gd name="adj" fmla="val 2254"/>
            </a:avLst>
          </a:prstGeom>
          <a:solidFill>
            <a:srgbClr val="0B1623"/>
          </a:solidFill>
          <a:ln w="12700">
            <a:solidFill>
              <a:srgbClr val="22364A"/>
            </a:solidFill>
            <a:prstDash val="solid"/>
          </a:ln>
        </p:spPr>
      </p:sp>
      <p:sp>
        <p:nvSpPr>
          <p:cNvPr id="13" name="Text 11"/>
          <p:cNvSpPr/>
          <p:nvPr/>
        </p:nvSpPr>
        <p:spPr>
          <a:xfrm>
            <a:off x="7068312" y="2194560"/>
            <a:ext cx="4288536" cy="297180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browser.LoadingStateChanged += (_, e) =&gt;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Dispatcher.Invoke(() =&gt;</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Status = e.IsLoading ? "Loading" : "Ready");</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a:t>
            </a:r>
            <a:endParaRPr lang="en-US" sz="1200" dirty="0"/>
          </a:p>
        </p:txBody>
      </p:sp>
      <p:sp>
        <p:nvSpPr>
          <p:cNvPr id="14" name="Shape 12"/>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5" name="Text 13"/>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06:05–06:45</a:t>
            </a:r>
            <a:endParaRPr lang="en-US" sz="1000" dirty="0"/>
          </a:p>
        </p:txBody>
      </p:sp>
      <p:sp>
        <p:nvSpPr>
          <p:cNvPr id="16" name="Text 14"/>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Browser loads, then status changes</a:t>
            </a:r>
            <a:endParaRPr lang="en-US" sz="950" dirty="0"/>
          </a:p>
        </p:txBody>
      </p:sp>
      <p:sp>
        <p:nvSpPr>
          <p:cNvPr id="17" name="Text 15"/>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Connect CefSharp to Dispatcher</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13</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HTTPS and TLS protect the connection</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The client validates the server certificate before protected HTTP traffic.</a:t>
            </a:r>
            <a:endParaRPr lang="en-US" sz="1350" dirty="0"/>
          </a:p>
        </p:txBody>
      </p:sp>
      <p:sp>
        <p:nvSpPr>
          <p:cNvPr id="5" name="Shape 3"/>
          <p:cNvSpPr/>
          <p:nvPr/>
        </p:nvSpPr>
        <p:spPr>
          <a:xfrm>
            <a:off x="731520" y="2331720"/>
            <a:ext cx="2331720" cy="1024128"/>
          </a:xfrm>
          <a:prstGeom prst="roundRect">
            <a:avLst>
              <a:gd name="adj" fmla="val 7143"/>
            </a:avLst>
          </a:prstGeom>
          <a:solidFill>
            <a:srgbClr val="FFFFFF"/>
          </a:solidFill>
          <a:ln w="19050">
            <a:solidFill>
              <a:srgbClr val="1677FF"/>
            </a:solidFill>
            <a:prstDash val="solid"/>
          </a:ln>
        </p:spPr>
      </p:sp>
      <p:sp>
        <p:nvSpPr>
          <p:cNvPr id="6" name="Text 4"/>
          <p:cNvSpPr/>
          <p:nvPr/>
        </p:nvSpPr>
        <p:spPr>
          <a:xfrm>
            <a:off x="932688" y="2615184"/>
            <a:ext cx="320040" cy="210312"/>
          </a:xfrm>
          <a:prstGeom prst="rect">
            <a:avLst/>
          </a:prstGeom>
          <a:solidFill>
            <a:srgbClr val="1677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p:nvPr/>
        </p:nvSpPr>
        <p:spPr>
          <a:xfrm>
            <a:off x="1353312" y="2587752"/>
            <a:ext cx="1444752" cy="256032"/>
          </a:xfrm>
          <a:prstGeom prst="rect">
            <a:avLst/>
          </a:prstGeom>
          <a:noFill/>
          <a:ln/>
        </p:spPr>
        <p:txBody>
          <a:bodyPr wrap="square" lIns="0" tIns="0" rIns="0" bIns="0" rtlCol="0" anchor="ctr"/>
          <a:lstStyle/>
          <a:p>
            <a:pPr algn="ctr" indent="0" marL="0">
              <a:buNone/>
            </a:pPr>
            <a:r>
              <a:rPr lang="en-US" sz="1400" b="1" dirty="0">
                <a:solidFill>
                  <a:srgbClr val="1677FF"/>
                </a:solidFill>
              </a:rPr>
              <a:t>ClientHello</a:t>
            </a:r>
            <a:endParaRPr lang="en-US" sz="1400" dirty="0"/>
          </a:p>
        </p:txBody>
      </p:sp>
      <p:sp>
        <p:nvSpPr>
          <p:cNvPr id="8" name="Shape 6"/>
          <p:cNvSpPr/>
          <p:nvPr/>
        </p:nvSpPr>
        <p:spPr>
          <a:xfrm>
            <a:off x="3163824" y="2642616"/>
            <a:ext cx="256032" cy="420624"/>
          </a:xfrm>
          <a:prstGeom prst="chevron">
            <a:avLst/>
          </a:prstGeom>
          <a:solidFill>
            <a:srgbClr val="26C6DA"/>
          </a:solidFill>
          <a:ln w="12700">
            <a:solidFill>
              <a:srgbClr val="26C6DA"/>
            </a:solidFill>
            <a:prstDash val="solid"/>
          </a:ln>
        </p:spPr>
      </p:sp>
      <p:sp>
        <p:nvSpPr>
          <p:cNvPr id="9" name="Shape 7"/>
          <p:cNvSpPr/>
          <p:nvPr/>
        </p:nvSpPr>
        <p:spPr>
          <a:xfrm>
            <a:off x="3529584" y="2331720"/>
            <a:ext cx="2331720" cy="1024128"/>
          </a:xfrm>
          <a:prstGeom prst="roundRect">
            <a:avLst>
              <a:gd name="adj" fmla="val 7143"/>
            </a:avLst>
          </a:prstGeom>
          <a:solidFill>
            <a:srgbClr val="FFFFFF"/>
          </a:solidFill>
          <a:ln w="19050">
            <a:solidFill>
              <a:srgbClr val="6C63FF"/>
            </a:solidFill>
            <a:prstDash val="solid"/>
          </a:ln>
        </p:spPr>
      </p:sp>
      <p:sp>
        <p:nvSpPr>
          <p:cNvPr id="10" name="Text 8"/>
          <p:cNvSpPr/>
          <p:nvPr/>
        </p:nvSpPr>
        <p:spPr>
          <a:xfrm>
            <a:off x="3730752" y="2615184"/>
            <a:ext cx="320040" cy="210312"/>
          </a:xfrm>
          <a:prstGeom prst="rect">
            <a:avLst/>
          </a:prstGeom>
          <a:solidFill>
            <a:srgbClr val="6C63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p:nvPr/>
        </p:nvSpPr>
        <p:spPr>
          <a:xfrm>
            <a:off x="4151376" y="2587752"/>
            <a:ext cx="1444752" cy="256032"/>
          </a:xfrm>
          <a:prstGeom prst="rect">
            <a:avLst/>
          </a:prstGeom>
          <a:noFill/>
          <a:ln/>
        </p:spPr>
        <p:txBody>
          <a:bodyPr wrap="square" lIns="0" tIns="0" rIns="0" bIns="0" rtlCol="0" anchor="ctr"/>
          <a:lstStyle/>
          <a:p>
            <a:pPr algn="ctr" indent="0" marL="0">
              <a:buNone/>
            </a:pPr>
            <a:r>
              <a:rPr lang="en-US" sz="1400" b="1" dirty="0">
                <a:solidFill>
                  <a:srgbClr val="6C63FF"/>
                </a:solidFill>
              </a:rPr>
              <a:t>Server certificate</a:t>
            </a:r>
            <a:endParaRPr lang="en-US" sz="1400" dirty="0"/>
          </a:p>
        </p:txBody>
      </p:sp>
      <p:sp>
        <p:nvSpPr>
          <p:cNvPr id="12" name="Shape 10"/>
          <p:cNvSpPr/>
          <p:nvPr/>
        </p:nvSpPr>
        <p:spPr>
          <a:xfrm>
            <a:off x="5961888" y="2642616"/>
            <a:ext cx="256032" cy="420624"/>
          </a:xfrm>
          <a:prstGeom prst="chevron">
            <a:avLst/>
          </a:prstGeom>
          <a:solidFill>
            <a:srgbClr val="26C6DA"/>
          </a:solidFill>
          <a:ln w="12700">
            <a:solidFill>
              <a:srgbClr val="26C6DA"/>
            </a:solidFill>
            <a:prstDash val="solid"/>
          </a:ln>
        </p:spPr>
      </p:sp>
      <p:sp>
        <p:nvSpPr>
          <p:cNvPr id="13" name="Shape 11"/>
          <p:cNvSpPr/>
          <p:nvPr/>
        </p:nvSpPr>
        <p:spPr>
          <a:xfrm>
            <a:off x="6327648" y="2331720"/>
            <a:ext cx="2331720" cy="1024128"/>
          </a:xfrm>
          <a:prstGeom prst="roundRect">
            <a:avLst>
              <a:gd name="adj" fmla="val 7143"/>
            </a:avLst>
          </a:prstGeom>
          <a:solidFill>
            <a:srgbClr val="FFFFFF"/>
          </a:solidFill>
          <a:ln w="19050">
            <a:solidFill>
              <a:srgbClr val="F59E0B"/>
            </a:solidFill>
            <a:prstDash val="solid"/>
          </a:ln>
        </p:spPr>
      </p:sp>
      <p:sp>
        <p:nvSpPr>
          <p:cNvPr id="14" name="Text 12"/>
          <p:cNvSpPr/>
          <p:nvPr/>
        </p:nvSpPr>
        <p:spPr>
          <a:xfrm>
            <a:off x="6528816" y="2615184"/>
            <a:ext cx="320040" cy="210312"/>
          </a:xfrm>
          <a:prstGeom prst="rect">
            <a:avLst/>
          </a:prstGeom>
          <a:solidFill>
            <a:srgbClr val="F59E0B"/>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p:nvPr/>
        </p:nvSpPr>
        <p:spPr>
          <a:xfrm>
            <a:off x="6949440" y="2587752"/>
            <a:ext cx="1444752" cy="256032"/>
          </a:xfrm>
          <a:prstGeom prst="rect">
            <a:avLst/>
          </a:prstGeom>
          <a:noFill/>
          <a:ln/>
        </p:spPr>
        <p:txBody>
          <a:bodyPr wrap="square" lIns="0" tIns="0" rIns="0" bIns="0" rtlCol="0" anchor="ctr"/>
          <a:lstStyle/>
          <a:p>
            <a:pPr algn="ctr" indent="0" marL="0">
              <a:buNone/>
            </a:pPr>
            <a:r>
              <a:rPr lang="en-US" sz="1400" b="1" dirty="0">
                <a:solidFill>
                  <a:srgbClr val="F59E0B"/>
                </a:solidFill>
              </a:rPr>
              <a:t>Validation + keys</a:t>
            </a:r>
            <a:endParaRPr lang="en-US" sz="1400" dirty="0"/>
          </a:p>
        </p:txBody>
      </p:sp>
      <p:sp>
        <p:nvSpPr>
          <p:cNvPr id="16" name="Shape 14"/>
          <p:cNvSpPr/>
          <p:nvPr/>
        </p:nvSpPr>
        <p:spPr>
          <a:xfrm>
            <a:off x="8759952" y="2642616"/>
            <a:ext cx="256032" cy="420624"/>
          </a:xfrm>
          <a:prstGeom prst="chevron">
            <a:avLst/>
          </a:prstGeom>
          <a:solidFill>
            <a:srgbClr val="26C6DA"/>
          </a:solidFill>
          <a:ln w="12700">
            <a:solidFill>
              <a:srgbClr val="26C6DA"/>
            </a:solidFill>
            <a:prstDash val="solid"/>
          </a:ln>
        </p:spPr>
      </p:sp>
      <p:sp>
        <p:nvSpPr>
          <p:cNvPr id="17" name="Shape 15"/>
          <p:cNvSpPr/>
          <p:nvPr/>
        </p:nvSpPr>
        <p:spPr>
          <a:xfrm>
            <a:off x="9125712" y="2331720"/>
            <a:ext cx="2331720" cy="1024128"/>
          </a:xfrm>
          <a:prstGeom prst="roundRect">
            <a:avLst>
              <a:gd name="adj" fmla="val 7143"/>
            </a:avLst>
          </a:prstGeom>
          <a:solidFill>
            <a:srgbClr val="FFFFFF"/>
          </a:solidFill>
          <a:ln w="19050">
            <a:solidFill>
              <a:srgbClr val="16A085"/>
            </a:solidFill>
            <a:prstDash val="solid"/>
          </a:ln>
        </p:spPr>
      </p:sp>
      <p:sp>
        <p:nvSpPr>
          <p:cNvPr id="18" name="Text 16"/>
          <p:cNvSpPr/>
          <p:nvPr/>
        </p:nvSpPr>
        <p:spPr>
          <a:xfrm>
            <a:off x="9326880" y="2615184"/>
            <a:ext cx="320040" cy="210312"/>
          </a:xfrm>
          <a:prstGeom prst="rect">
            <a:avLst/>
          </a:prstGeom>
          <a:solidFill>
            <a:srgbClr val="16A085"/>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9" name="Text 17"/>
          <p:cNvSpPr/>
          <p:nvPr/>
        </p:nvSpPr>
        <p:spPr>
          <a:xfrm>
            <a:off x="9747504" y="2587752"/>
            <a:ext cx="1444752" cy="256032"/>
          </a:xfrm>
          <a:prstGeom prst="rect">
            <a:avLst/>
          </a:prstGeom>
          <a:noFill/>
          <a:ln/>
        </p:spPr>
        <p:txBody>
          <a:bodyPr wrap="square" lIns="0" tIns="0" rIns="0" bIns="0" rtlCol="0" anchor="ctr"/>
          <a:lstStyle/>
          <a:p>
            <a:pPr algn="ctr" indent="0" marL="0">
              <a:buNone/>
            </a:pPr>
            <a:r>
              <a:rPr lang="en-US" sz="1400" b="1" dirty="0">
                <a:solidFill>
                  <a:srgbClr val="16A085"/>
                </a:solidFill>
              </a:rPr>
              <a:t>Protected HTTP</a:t>
            </a:r>
            <a:endParaRPr lang="en-US" sz="1400" dirty="0"/>
          </a:p>
        </p:txBody>
      </p:sp>
      <p:sp>
        <p:nvSpPr>
          <p:cNvPr id="20" name="Shape 18"/>
          <p:cNvSpPr/>
          <p:nvPr/>
        </p:nvSpPr>
        <p:spPr>
          <a:xfrm>
            <a:off x="2057400" y="3995928"/>
            <a:ext cx="8138160" cy="1188720"/>
          </a:xfrm>
          <a:prstGeom prst="roundRect">
            <a:avLst>
              <a:gd name="adj" fmla="val 6154"/>
            </a:avLst>
          </a:prstGeom>
          <a:solidFill>
            <a:srgbClr val="0B1623"/>
          </a:solidFill>
          <a:ln w="12700">
            <a:solidFill>
              <a:srgbClr val="22364A"/>
            </a:solidFill>
            <a:prstDash val="solid"/>
          </a:ln>
        </p:spPr>
      </p:sp>
      <p:sp>
        <p:nvSpPr>
          <p:cNvPr id="21" name="Text 19"/>
          <p:cNvSpPr/>
          <p:nvPr/>
        </p:nvSpPr>
        <p:spPr>
          <a:xfrm>
            <a:off x="2221992" y="4133088"/>
            <a:ext cx="7808976" cy="914400"/>
          </a:xfrm>
          <a:prstGeom prst="rect">
            <a:avLst/>
          </a:prstGeom>
          <a:noFill/>
          <a:ln/>
        </p:spPr>
        <p:txBody>
          <a:bodyPr wrap="square" lIns="0" tIns="0" rIns="0" bIns="0" rtlCol="0" anchor="ctr">
            <a:normAutofit/>
          </a:bodyPr>
          <a:lstStyle/>
          <a:p>
            <a:pPr indent="0" marL="0">
              <a:buNone/>
            </a:pPr>
            <a:r>
              <a:rPr lang="en-US" sz="1200" dirty="0">
                <a:solidFill>
                  <a:srgbClr val="DCEBFA"/>
                </a:solidFill>
                <a:latin typeface="Aptos Mono" pitchFamily="34" charset="0"/>
                <a:ea typeface="Aptos Mono" pitchFamily="34" charset="-122"/>
                <a:cs typeface="Aptos Mono" pitchFamily="34" charset="-120"/>
              </a:rPr>
              <a:t>using var response = await httpClient.GetAsync(</a:t>
            </a: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    $"api/exams/{examId}", cancellationToken);</a:t>
            </a:r>
            <a:endParaRPr lang="en-US" sz="1200" dirty="0"/>
          </a:p>
          <a:p>
            <a:pPr indent="0" marL="0">
              <a:buNone/>
            </a:pPr>
            <a:endParaRPr lang="en-US" sz="1200" dirty="0"/>
          </a:p>
          <a:p>
            <a:pPr indent="0" marL="0">
              <a:buNone/>
            </a:pPr>
            <a:r>
              <a:rPr lang="en-US" sz="1200" dirty="0">
                <a:solidFill>
                  <a:srgbClr val="DCEBFA"/>
                </a:solidFill>
                <a:latin typeface="Aptos Mono" pitchFamily="34" charset="0"/>
                <a:ea typeface="Aptos Mono" pitchFamily="34" charset="-122"/>
                <a:cs typeface="Aptos Mono" pitchFamily="34" charset="-120"/>
              </a:rPr>
              <a:t>response.EnsureSuccessStatusCode();</a:t>
            </a:r>
            <a:endParaRPr lang="en-US" sz="1200" dirty="0"/>
          </a:p>
        </p:txBody>
      </p:sp>
      <p:sp>
        <p:nvSpPr>
          <p:cNvPr id="22" name="Shape 20"/>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23" name="Text 21"/>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06:45–07:25</a:t>
            </a:r>
            <a:endParaRPr lang="en-US" sz="1000" dirty="0"/>
          </a:p>
        </p:txBody>
      </p:sp>
      <p:sp>
        <p:nvSpPr>
          <p:cNvPr id="24" name="Text 22"/>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Handshake steps reveal one by one</a:t>
            </a:r>
            <a:endParaRPr lang="en-US" sz="950" dirty="0"/>
          </a:p>
        </p:txBody>
      </p:sp>
      <p:sp>
        <p:nvSpPr>
          <p:cNvPr id="25" name="Text 23"/>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Keep crypto explanation practical</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14</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Security concepts solve different problems</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Do not use encryption, hashing, and signatures as interchangeable terms.</a:t>
            </a:r>
            <a:endParaRPr lang="en-US" sz="1350" dirty="0"/>
          </a:p>
        </p:txBody>
      </p:sp>
      <p:sp>
        <p:nvSpPr>
          <p:cNvPr id="5" name="Shape 3"/>
          <p:cNvSpPr/>
          <p:nvPr/>
        </p:nvSpPr>
        <p:spPr>
          <a:xfrm>
            <a:off x="685800" y="2148840"/>
            <a:ext cx="3429000" cy="2331720"/>
          </a:xfrm>
          <a:prstGeom prst="roundRect">
            <a:avLst>
              <a:gd name="adj" fmla="val 3137"/>
            </a:avLst>
          </a:prstGeom>
          <a:solidFill>
            <a:srgbClr val="FFFFFF"/>
          </a:solidFill>
          <a:ln w="19050">
            <a:solidFill>
              <a:srgbClr val="1677FF"/>
            </a:solidFill>
            <a:prstDash val="solid"/>
          </a:ln>
        </p:spPr>
      </p:sp>
      <p:sp>
        <p:nvSpPr>
          <p:cNvPr id="6" name="Text 4"/>
          <p:cNvSpPr/>
          <p:nvPr/>
        </p:nvSpPr>
        <p:spPr>
          <a:xfrm>
            <a:off x="960120" y="2551176"/>
            <a:ext cx="2880360" cy="347472"/>
          </a:xfrm>
          <a:prstGeom prst="rect">
            <a:avLst/>
          </a:prstGeom>
          <a:noFill/>
          <a:ln/>
        </p:spPr>
        <p:txBody>
          <a:bodyPr wrap="square" lIns="0" tIns="0" rIns="0" bIns="0" rtlCol="0" anchor="ctr"/>
          <a:lstStyle/>
          <a:p>
            <a:pPr algn="ctr" indent="0" marL="0">
              <a:buNone/>
            </a:pPr>
            <a:r>
              <a:rPr lang="en-US" sz="2300" b="1" dirty="0">
                <a:solidFill>
                  <a:srgbClr val="1677FF"/>
                </a:solidFill>
              </a:rPr>
              <a:t>AES</a:t>
            </a:r>
            <a:endParaRPr lang="en-US" sz="2300" dirty="0"/>
          </a:p>
        </p:txBody>
      </p:sp>
      <p:sp>
        <p:nvSpPr>
          <p:cNvPr id="7" name="Text 5"/>
          <p:cNvSpPr/>
          <p:nvPr/>
        </p:nvSpPr>
        <p:spPr>
          <a:xfrm>
            <a:off x="960120" y="3127248"/>
            <a:ext cx="2880360" cy="274320"/>
          </a:xfrm>
          <a:prstGeom prst="rect">
            <a:avLst/>
          </a:prstGeom>
          <a:noFill/>
          <a:ln/>
        </p:spPr>
        <p:txBody>
          <a:bodyPr wrap="square" lIns="0" tIns="0" rIns="0" bIns="0" rtlCol="0" anchor="ctr"/>
          <a:lstStyle/>
          <a:p>
            <a:pPr algn="ctr" indent="0" marL="0">
              <a:buNone/>
            </a:pPr>
            <a:r>
              <a:rPr lang="en-US" sz="1700" b="1" dirty="0">
                <a:solidFill>
                  <a:srgbClr val="23374D"/>
                </a:solidFill>
              </a:rPr>
              <a:t>Confidentiality</a:t>
            </a:r>
            <a:endParaRPr lang="en-US" sz="1700" dirty="0"/>
          </a:p>
        </p:txBody>
      </p:sp>
      <p:sp>
        <p:nvSpPr>
          <p:cNvPr id="8" name="Text 6"/>
          <p:cNvSpPr/>
          <p:nvPr/>
        </p:nvSpPr>
        <p:spPr>
          <a:xfrm>
            <a:off x="960120" y="3675888"/>
            <a:ext cx="2880360" cy="384048"/>
          </a:xfrm>
          <a:prstGeom prst="rect">
            <a:avLst/>
          </a:prstGeom>
          <a:noFill/>
          <a:ln/>
        </p:spPr>
        <p:txBody>
          <a:bodyPr wrap="square" lIns="0" tIns="0" rIns="0" bIns="0" rtlCol="0" anchor="ctr"/>
          <a:lstStyle/>
          <a:p>
            <a:pPr algn="ctr" indent="0" marL="0">
              <a:buNone/>
            </a:pPr>
            <a:r>
              <a:rPr lang="en-US" sz="1300" dirty="0">
                <a:solidFill>
                  <a:srgbClr val="65758B"/>
                </a:solidFill>
              </a:rPr>
              <a:t>Reversible with key</a:t>
            </a:r>
            <a:endParaRPr lang="en-US" sz="1300" dirty="0"/>
          </a:p>
        </p:txBody>
      </p:sp>
      <p:sp>
        <p:nvSpPr>
          <p:cNvPr id="9" name="Shape 7"/>
          <p:cNvSpPr/>
          <p:nvPr/>
        </p:nvSpPr>
        <p:spPr>
          <a:xfrm>
            <a:off x="4480560" y="2148840"/>
            <a:ext cx="3429000" cy="2331720"/>
          </a:xfrm>
          <a:prstGeom prst="roundRect">
            <a:avLst>
              <a:gd name="adj" fmla="val 3137"/>
            </a:avLst>
          </a:prstGeom>
          <a:solidFill>
            <a:srgbClr val="FFFFFF"/>
          </a:solidFill>
          <a:ln w="19050">
            <a:solidFill>
              <a:srgbClr val="6C63FF"/>
            </a:solidFill>
            <a:prstDash val="solid"/>
          </a:ln>
        </p:spPr>
      </p:sp>
      <p:sp>
        <p:nvSpPr>
          <p:cNvPr id="10" name="Text 8"/>
          <p:cNvSpPr/>
          <p:nvPr/>
        </p:nvSpPr>
        <p:spPr>
          <a:xfrm>
            <a:off x="4754880" y="2551176"/>
            <a:ext cx="2880360" cy="347472"/>
          </a:xfrm>
          <a:prstGeom prst="rect">
            <a:avLst/>
          </a:prstGeom>
          <a:noFill/>
          <a:ln/>
        </p:spPr>
        <p:txBody>
          <a:bodyPr wrap="square" lIns="0" tIns="0" rIns="0" bIns="0" rtlCol="0" anchor="ctr"/>
          <a:lstStyle/>
          <a:p>
            <a:pPr algn="ctr" indent="0" marL="0">
              <a:buNone/>
            </a:pPr>
            <a:r>
              <a:rPr lang="en-US" sz="2300" b="1" dirty="0">
                <a:solidFill>
                  <a:srgbClr val="6C63FF"/>
                </a:solidFill>
              </a:rPr>
              <a:t>SHA-256</a:t>
            </a:r>
            <a:endParaRPr lang="en-US" sz="2300" dirty="0"/>
          </a:p>
        </p:txBody>
      </p:sp>
      <p:sp>
        <p:nvSpPr>
          <p:cNvPr id="11" name="Text 9"/>
          <p:cNvSpPr/>
          <p:nvPr/>
        </p:nvSpPr>
        <p:spPr>
          <a:xfrm>
            <a:off x="4754880" y="3127248"/>
            <a:ext cx="2880360" cy="274320"/>
          </a:xfrm>
          <a:prstGeom prst="rect">
            <a:avLst/>
          </a:prstGeom>
          <a:noFill/>
          <a:ln/>
        </p:spPr>
        <p:txBody>
          <a:bodyPr wrap="square" lIns="0" tIns="0" rIns="0" bIns="0" rtlCol="0" anchor="ctr"/>
          <a:lstStyle/>
          <a:p>
            <a:pPr algn="ctr" indent="0" marL="0">
              <a:buNone/>
            </a:pPr>
            <a:r>
              <a:rPr lang="en-US" sz="1700" b="1" dirty="0">
                <a:solidFill>
                  <a:srgbClr val="23374D"/>
                </a:solidFill>
              </a:rPr>
              <a:t>Integrity digest</a:t>
            </a:r>
            <a:endParaRPr lang="en-US" sz="1700" dirty="0"/>
          </a:p>
        </p:txBody>
      </p:sp>
      <p:sp>
        <p:nvSpPr>
          <p:cNvPr id="12" name="Text 10"/>
          <p:cNvSpPr/>
          <p:nvPr/>
        </p:nvSpPr>
        <p:spPr>
          <a:xfrm>
            <a:off x="4754880" y="3675888"/>
            <a:ext cx="2880360" cy="384048"/>
          </a:xfrm>
          <a:prstGeom prst="rect">
            <a:avLst/>
          </a:prstGeom>
          <a:noFill/>
          <a:ln/>
        </p:spPr>
        <p:txBody>
          <a:bodyPr wrap="square" lIns="0" tIns="0" rIns="0" bIns="0" rtlCol="0" anchor="ctr"/>
          <a:lstStyle/>
          <a:p>
            <a:pPr algn="ctr" indent="0" marL="0">
              <a:buNone/>
            </a:pPr>
            <a:r>
              <a:rPr lang="en-US" sz="1300" dirty="0">
                <a:solidFill>
                  <a:srgbClr val="65758B"/>
                </a:solidFill>
              </a:rPr>
              <a:t>One-way transformation</a:t>
            </a:r>
            <a:endParaRPr lang="en-US" sz="1300" dirty="0"/>
          </a:p>
        </p:txBody>
      </p:sp>
      <p:sp>
        <p:nvSpPr>
          <p:cNvPr id="13" name="Shape 11"/>
          <p:cNvSpPr/>
          <p:nvPr/>
        </p:nvSpPr>
        <p:spPr>
          <a:xfrm>
            <a:off x="8275320" y="2148840"/>
            <a:ext cx="3429000" cy="2331720"/>
          </a:xfrm>
          <a:prstGeom prst="roundRect">
            <a:avLst>
              <a:gd name="adj" fmla="val 3137"/>
            </a:avLst>
          </a:prstGeom>
          <a:solidFill>
            <a:srgbClr val="FFFFFF"/>
          </a:solidFill>
          <a:ln w="19050">
            <a:solidFill>
              <a:srgbClr val="16A085"/>
            </a:solidFill>
            <a:prstDash val="solid"/>
          </a:ln>
        </p:spPr>
      </p:sp>
      <p:sp>
        <p:nvSpPr>
          <p:cNvPr id="14" name="Text 12"/>
          <p:cNvSpPr/>
          <p:nvPr/>
        </p:nvSpPr>
        <p:spPr>
          <a:xfrm>
            <a:off x="8549640" y="2551176"/>
            <a:ext cx="2880360" cy="347472"/>
          </a:xfrm>
          <a:prstGeom prst="rect">
            <a:avLst/>
          </a:prstGeom>
          <a:noFill/>
          <a:ln/>
        </p:spPr>
        <p:txBody>
          <a:bodyPr wrap="square" lIns="0" tIns="0" rIns="0" bIns="0" rtlCol="0" anchor="ctr"/>
          <a:lstStyle/>
          <a:p>
            <a:pPr algn="ctr" indent="0" marL="0">
              <a:buNone/>
            </a:pPr>
            <a:r>
              <a:rPr lang="en-US" sz="2300" b="1" dirty="0">
                <a:solidFill>
                  <a:srgbClr val="16A085"/>
                </a:solidFill>
              </a:rPr>
              <a:t>Digital signature</a:t>
            </a:r>
            <a:endParaRPr lang="en-US" sz="2300" dirty="0"/>
          </a:p>
        </p:txBody>
      </p:sp>
      <p:sp>
        <p:nvSpPr>
          <p:cNvPr id="15" name="Text 13"/>
          <p:cNvSpPr/>
          <p:nvPr/>
        </p:nvSpPr>
        <p:spPr>
          <a:xfrm>
            <a:off x="8549640" y="3127248"/>
            <a:ext cx="2880360" cy="274320"/>
          </a:xfrm>
          <a:prstGeom prst="rect">
            <a:avLst/>
          </a:prstGeom>
          <a:noFill/>
          <a:ln/>
        </p:spPr>
        <p:txBody>
          <a:bodyPr wrap="square" lIns="0" tIns="0" rIns="0" bIns="0" rtlCol="0" anchor="ctr"/>
          <a:lstStyle/>
          <a:p>
            <a:pPr algn="ctr" indent="0" marL="0">
              <a:buNone/>
            </a:pPr>
            <a:r>
              <a:rPr lang="en-US" sz="1700" b="1" dirty="0">
                <a:solidFill>
                  <a:srgbClr val="23374D"/>
                </a:solidFill>
              </a:rPr>
              <a:t>Authenticity + integrity</a:t>
            </a:r>
            <a:endParaRPr lang="en-US" sz="1700" dirty="0"/>
          </a:p>
        </p:txBody>
      </p:sp>
      <p:sp>
        <p:nvSpPr>
          <p:cNvPr id="16" name="Text 14"/>
          <p:cNvSpPr/>
          <p:nvPr/>
        </p:nvSpPr>
        <p:spPr>
          <a:xfrm>
            <a:off x="8549640" y="3675888"/>
            <a:ext cx="2880360" cy="384048"/>
          </a:xfrm>
          <a:prstGeom prst="rect">
            <a:avLst/>
          </a:prstGeom>
          <a:noFill/>
          <a:ln/>
        </p:spPr>
        <p:txBody>
          <a:bodyPr wrap="square" lIns="0" tIns="0" rIns="0" bIns="0" rtlCol="0" anchor="ctr"/>
          <a:lstStyle/>
          <a:p>
            <a:pPr algn="ctr" indent="0" marL="0">
              <a:buNone/>
            </a:pPr>
            <a:r>
              <a:rPr lang="en-US" sz="1300" dirty="0">
                <a:solidFill>
                  <a:srgbClr val="65758B"/>
                </a:solidFill>
              </a:rPr>
              <a:t>Private sign / public verify</a:t>
            </a:r>
            <a:endParaRPr lang="en-US" sz="1300" dirty="0"/>
          </a:p>
        </p:txBody>
      </p:sp>
      <p:sp>
        <p:nvSpPr>
          <p:cNvPr id="17" name="Text 15"/>
          <p:cNvSpPr/>
          <p:nvPr/>
        </p:nvSpPr>
        <p:spPr>
          <a:xfrm>
            <a:off x="1097280" y="4983480"/>
            <a:ext cx="9966960" cy="411480"/>
          </a:xfrm>
          <a:prstGeom prst="rect">
            <a:avLst/>
          </a:prstGeom>
          <a:solidFill>
            <a:srgbClr val="EAF2FF"/>
          </a:solidFill>
          <a:ln/>
        </p:spPr>
        <p:txBody>
          <a:bodyPr wrap="square" lIns="635" tIns="635" rIns="635" bIns="635" rtlCol="0" anchor="ctr"/>
          <a:lstStyle/>
          <a:p>
            <a:pPr algn="ctr" indent="0" marL="0">
              <a:buNone/>
            </a:pPr>
            <a:r>
              <a:rPr lang="en-US" sz="1600" b="1" dirty="0">
                <a:solidFill>
                  <a:srgbClr val="102A43"/>
                </a:solidFill>
              </a:rPr>
              <a:t>Windows layer: access token • SID • ACL • UAC • service account</a:t>
            </a:r>
            <a:endParaRPr lang="en-US" sz="1600" dirty="0"/>
          </a:p>
        </p:txBody>
      </p:sp>
      <p:sp>
        <p:nvSpPr>
          <p:cNvPr id="18" name="Shape 16"/>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19" name="Text 17"/>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07:25–07:55</a:t>
            </a:r>
            <a:endParaRPr lang="en-US" sz="1000" dirty="0"/>
          </a:p>
        </p:txBody>
      </p:sp>
      <p:sp>
        <p:nvSpPr>
          <p:cNvPr id="20" name="Text 18"/>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Three cards appear; Windows layer last</a:t>
            </a:r>
            <a:endParaRPr lang="en-US" sz="950" dirty="0"/>
          </a:p>
        </p:txBody>
      </p:sp>
      <p:sp>
        <p:nvSpPr>
          <p:cNvPr id="21" name="Text 19"/>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Use clear contrasts</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502920" y="548640"/>
            <a:ext cx="1188720" cy="310896"/>
          </a:xfrm>
          <a:prstGeom prst="rect">
            <a:avLst/>
          </a:prstGeom>
          <a:solidFill>
            <a:srgbClr val="6C63FF"/>
          </a:solidFill>
          <a:ln/>
        </p:spPr>
        <p:txBody>
          <a:bodyPr wrap="square" lIns="889" tIns="889" rIns="889" bIns="889" rtlCol="0" anchor="ctr"/>
          <a:lstStyle/>
          <a:p>
            <a:pPr algn="ctr" indent="0" marL="0">
              <a:buNone/>
            </a:pPr>
            <a:r>
              <a:rPr lang="en-US" sz="1100" b="1" dirty="0">
                <a:solidFill>
                  <a:srgbClr val="FFFFFF"/>
                </a:solidFill>
              </a:rPr>
              <a:t>SCENE 15</a:t>
            </a:r>
            <a:endParaRPr lang="en-US" sz="1100" dirty="0"/>
          </a:p>
        </p:txBody>
      </p:sp>
      <p:sp>
        <p:nvSpPr>
          <p:cNvPr id="3" name="Text 1"/>
          <p:cNvSpPr/>
          <p:nvPr/>
        </p:nvSpPr>
        <p:spPr>
          <a:xfrm>
            <a:off x="502920" y="932688"/>
            <a:ext cx="7955280" cy="530352"/>
          </a:xfrm>
          <a:prstGeom prst="rect">
            <a:avLst/>
          </a:prstGeom>
          <a:noFill/>
          <a:ln/>
        </p:spPr>
        <p:txBody>
          <a:bodyPr wrap="square" lIns="0" tIns="0" rIns="0" bIns="0" rtlCol="0" anchor="ctr"/>
          <a:lstStyle/>
          <a:p>
            <a:pPr indent="0" marL="0">
              <a:buNone/>
            </a:pPr>
            <a:r>
              <a:rPr lang="en-US" sz="2800" b="1" dirty="0">
                <a:solidFill>
                  <a:srgbClr val="102A43"/>
                </a:solidFill>
              </a:rPr>
              <a:t>Testing, delivery, and installation</a:t>
            </a:r>
            <a:endParaRPr lang="en-US" sz="2800" dirty="0"/>
          </a:p>
        </p:txBody>
      </p:sp>
      <p:sp>
        <p:nvSpPr>
          <p:cNvPr id="4" name="Text 2"/>
          <p:cNvSpPr/>
          <p:nvPr/>
        </p:nvSpPr>
        <p:spPr>
          <a:xfrm>
            <a:off x="530352" y="1481328"/>
            <a:ext cx="10789920" cy="411480"/>
          </a:xfrm>
          <a:prstGeom prst="rect">
            <a:avLst/>
          </a:prstGeom>
          <a:noFill/>
          <a:ln/>
        </p:spPr>
        <p:txBody>
          <a:bodyPr wrap="square" lIns="0" tIns="0" rIns="0" bIns="0" rtlCol="0" anchor="ctr"/>
          <a:lstStyle/>
          <a:p>
            <a:pPr indent="0" marL="0">
              <a:buNone/>
            </a:pPr>
            <a:r>
              <a:rPr lang="en-US" sz="1350" dirty="0">
                <a:solidFill>
                  <a:srgbClr val="65758B"/>
                </a:solidFill>
              </a:rPr>
              <a:t>A desktop product is not complete when it only works on one developer machine.</a:t>
            </a:r>
            <a:endParaRPr lang="en-US" sz="1350" dirty="0"/>
          </a:p>
        </p:txBody>
      </p:sp>
      <p:sp>
        <p:nvSpPr>
          <p:cNvPr id="5" name="Shape 3"/>
          <p:cNvSpPr/>
          <p:nvPr/>
        </p:nvSpPr>
        <p:spPr>
          <a:xfrm>
            <a:off x="594360" y="2331720"/>
            <a:ext cx="1874520" cy="1280160"/>
          </a:xfrm>
          <a:prstGeom prst="roundRect">
            <a:avLst>
              <a:gd name="adj" fmla="val 5714"/>
            </a:avLst>
          </a:prstGeom>
          <a:solidFill>
            <a:srgbClr val="FFFFFF"/>
          </a:solidFill>
          <a:ln w="19050">
            <a:solidFill>
              <a:srgbClr val="1677FF"/>
            </a:solidFill>
            <a:prstDash val="solid"/>
          </a:ln>
        </p:spPr>
      </p:sp>
      <p:sp>
        <p:nvSpPr>
          <p:cNvPr id="6" name="Text 4"/>
          <p:cNvSpPr/>
          <p:nvPr/>
        </p:nvSpPr>
        <p:spPr>
          <a:xfrm>
            <a:off x="822960" y="2651760"/>
            <a:ext cx="1417320" cy="274320"/>
          </a:xfrm>
          <a:prstGeom prst="rect">
            <a:avLst/>
          </a:prstGeom>
          <a:noFill/>
          <a:ln/>
        </p:spPr>
        <p:txBody>
          <a:bodyPr wrap="square" lIns="0" tIns="0" rIns="0" bIns="0" rtlCol="0" anchor="ctr"/>
          <a:lstStyle/>
          <a:p>
            <a:pPr algn="ctr" indent="0" marL="0">
              <a:buNone/>
            </a:pPr>
            <a:r>
              <a:rPr lang="en-US" sz="2200" b="1" dirty="0">
                <a:solidFill>
                  <a:srgbClr val="1677FF"/>
                </a:solidFill>
              </a:rPr>
              <a:t>Git</a:t>
            </a:r>
            <a:endParaRPr lang="en-US" sz="2200" dirty="0"/>
          </a:p>
        </p:txBody>
      </p:sp>
      <p:sp>
        <p:nvSpPr>
          <p:cNvPr id="7" name="Text 5"/>
          <p:cNvSpPr/>
          <p:nvPr/>
        </p:nvSpPr>
        <p:spPr>
          <a:xfrm>
            <a:off x="822960" y="3127248"/>
            <a:ext cx="1417320" cy="201168"/>
          </a:xfrm>
          <a:prstGeom prst="rect">
            <a:avLst/>
          </a:prstGeom>
          <a:noFill/>
          <a:ln/>
        </p:spPr>
        <p:txBody>
          <a:bodyPr wrap="square" lIns="0" tIns="0" rIns="0" bIns="0" rtlCol="0" anchor="ctr"/>
          <a:lstStyle/>
          <a:p>
            <a:pPr algn="ctr" indent="0" marL="0">
              <a:buNone/>
            </a:pPr>
            <a:r>
              <a:rPr lang="en-US" sz="1200" dirty="0">
                <a:solidFill>
                  <a:srgbClr val="65758B"/>
                </a:solidFill>
              </a:rPr>
              <a:t>Commit</a:t>
            </a:r>
            <a:endParaRPr lang="en-US" sz="1200" dirty="0"/>
          </a:p>
        </p:txBody>
      </p:sp>
      <p:sp>
        <p:nvSpPr>
          <p:cNvPr id="8" name="Shape 6"/>
          <p:cNvSpPr/>
          <p:nvPr/>
        </p:nvSpPr>
        <p:spPr>
          <a:xfrm>
            <a:off x="2551176" y="2724912"/>
            <a:ext cx="237744" cy="457200"/>
          </a:xfrm>
          <a:prstGeom prst="chevron">
            <a:avLst/>
          </a:prstGeom>
          <a:solidFill>
            <a:srgbClr val="26C6DA"/>
          </a:solidFill>
          <a:ln w="12700">
            <a:solidFill>
              <a:srgbClr val="26C6DA"/>
            </a:solidFill>
            <a:prstDash val="solid"/>
          </a:ln>
        </p:spPr>
      </p:sp>
      <p:sp>
        <p:nvSpPr>
          <p:cNvPr id="9" name="Shape 7"/>
          <p:cNvSpPr/>
          <p:nvPr/>
        </p:nvSpPr>
        <p:spPr>
          <a:xfrm>
            <a:off x="2880360" y="2331720"/>
            <a:ext cx="1874520" cy="1280160"/>
          </a:xfrm>
          <a:prstGeom prst="roundRect">
            <a:avLst>
              <a:gd name="adj" fmla="val 5714"/>
            </a:avLst>
          </a:prstGeom>
          <a:solidFill>
            <a:srgbClr val="FFFFFF"/>
          </a:solidFill>
          <a:ln w="19050">
            <a:solidFill>
              <a:srgbClr val="6C63FF"/>
            </a:solidFill>
            <a:prstDash val="solid"/>
          </a:ln>
        </p:spPr>
      </p:sp>
      <p:sp>
        <p:nvSpPr>
          <p:cNvPr id="10" name="Text 8"/>
          <p:cNvSpPr/>
          <p:nvPr/>
        </p:nvSpPr>
        <p:spPr>
          <a:xfrm>
            <a:off x="3108960" y="2651760"/>
            <a:ext cx="1417320" cy="274320"/>
          </a:xfrm>
          <a:prstGeom prst="rect">
            <a:avLst/>
          </a:prstGeom>
          <a:noFill/>
          <a:ln/>
        </p:spPr>
        <p:txBody>
          <a:bodyPr wrap="square" lIns="0" tIns="0" rIns="0" bIns="0" rtlCol="0" anchor="ctr"/>
          <a:lstStyle/>
          <a:p>
            <a:pPr algn="ctr" indent="0" marL="0">
              <a:buNone/>
            </a:pPr>
            <a:r>
              <a:rPr lang="en-US" sz="2200" b="1" dirty="0">
                <a:solidFill>
                  <a:srgbClr val="6C63FF"/>
                </a:solidFill>
              </a:rPr>
              <a:t>CI</a:t>
            </a:r>
            <a:endParaRPr lang="en-US" sz="2200" dirty="0"/>
          </a:p>
        </p:txBody>
      </p:sp>
      <p:sp>
        <p:nvSpPr>
          <p:cNvPr id="11" name="Text 9"/>
          <p:cNvSpPr/>
          <p:nvPr/>
        </p:nvSpPr>
        <p:spPr>
          <a:xfrm>
            <a:off x="3108960" y="3127248"/>
            <a:ext cx="1417320" cy="201168"/>
          </a:xfrm>
          <a:prstGeom prst="rect">
            <a:avLst/>
          </a:prstGeom>
          <a:noFill/>
          <a:ln/>
        </p:spPr>
        <p:txBody>
          <a:bodyPr wrap="square" lIns="0" tIns="0" rIns="0" bIns="0" rtlCol="0" anchor="ctr"/>
          <a:lstStyle/>
          <a:p>
            <a:pPr algn="ctr" indent="0" marL="0">
              <a:buNone/>
            </a:pPr>
            <a:r>
              <a:rPr lang="en-US" sz="1200" dirty="0">
                <a:solidFill>
                  <a:srgbClr val="65758B"/>
                </a:solidFill>
              </a:rPr>
              <a:t>Build</a:t>
            </a:r>
            <a:endParaRPr lang="en-US" sz="1200" dirty="0"/>
          </a:p>
        </p:txBody>
      </p:sp>
      <p:sp>
        <p:nvSpPr>
          <p:cNvPr id="12" name="Shape 10"/>
          <p:cNvSpPr/>
          <p:nvPr/>
        </p:nvSpPr>
        <p:spPr>
          <a:xfrm>
            <a:off x="4837176" y="2724912"/>
            <a:ext cx="237744" cy="457200"/>
          </a:xfrm>
          <a:prstGeom prst="chevron">
            <a:avLst/>
          </a:prstGeom>
          <a:solidFill>
            <a:srgbClr val="26C6DA"/>
          </a:solidFill>
          <a:ln w="12700">
            <a:solidFill>
              <a:srgbClr val="26C6DA"/>
            </a:solidFill>
            <a:prstDash val="solid"/>
          </a:ln>
        </p:spPr>
      </p:sp>
      <p:sp>
        <p:nvSpPr>
          <p:cNvPr id="13" name="Shape 11"/>
          <p:cNvSpPr/>
          <p:nvPr/>
        </p:nvSpPr>
        <p:spPr>
          <a:xfrm>
            <a:off x="5166360" y="2331720"/>
            <a:ext cx="1874520" cy="1280160"/>
          </a:xfrm>
          <a:prstGeom prst="roundRect">
            <a:avLst>
              <a:gd name="adj" fmla="val 5714"/>
            </a:avLst>
          </a:prstGeom>
          <a:solidFill>
            <a:srgbClr val="FFFFFF"/>
          </a:solidFill>
          <a:ln w="19050">
            <a:solidFill>
              <a:srgbClr val="16A085"/>
            </a:solidFill>
            <a:prstDash val="solid"/>
          </a:ln>
        </p:spPr>
      </p:sp>
      <p:sp>
        <p:nvSpPr>
          <p:cNvPr id="14" name="Text 12"/>
          <p:cNvSpPr/>
          <p:nvPr/>
        </p:nvSpPr>
        <p:spPr>
          <a:xfrm>
            <a:off x="5394960" y="2651760"/>
            <a:ext cx="1417320" cy="274320"/>
          </a:xfrm>
          <a:prstGeom prst="rect">
            <a:avLst/>
          </a:prstGeom>
          <a:noFill/>
          <a:ln/>
        </p:spPr>
        <p:txBody>
          <a:bodyPr wrap="square" lIns="0" tIns="0" rIns="0" bIns="0" rtlCol="0" anchor="ctr"/>
          <a:lstStyle/>
          <a:p>
            <a:pPr algn="ctr" indent="0" marL="0">
              <a:buNone/>
            </a:pPr>
            <a:r>
              <a:rPr lang="en-US" sz="2200" b="1" dirty="0">
                <a:solidFill>
                  <a:srgbClr val="16A085"/>
                </a:solidFill>
              </a:rPr>
              <a:t>Tests</a:t>
            </a:r>
            <a:endParaRPr lang="en-US" sz="2200" dirty="0"/>
          </a:p>
        </p:txBody>
      </p:sp>
      <p:sp>
        <p:nvSpPr>
          <p:cNvPr id="15" name="Text 13"/>
          <p:cNvSpPr/>
          <p:nvPr/>
        </p:nvSpPr>
        <p:spPr>
          <a:xfrm>
            <a:off x="5394960" y="3127248"/>
            <a:ext cx="1417320" cy="201168"/>
          </a:xfrm>
          <a:prstGeom prst="rect">
            <a:avLst/>
          </a:prstGeom>
          <a:noFill/>
          <a:ln/>
        </p:spPr>
        <p:txBody>
          <a:bodyPr wrap="square" lIns="0" tIns="0" rIns="0" bIns="0" rtlCol="0" anchor="ctr"/>
          <a:lstStyle/>
          <a:p>
            <a:pPr algn="ctr" indent="0" marL="0">
              <a:buNone/>
            </a:pPr>
            <a:r>
              <a:rPr lang="en-US" sz="1200" dirty="0">
                <a:solidFill>
                  <a:srgbClr val="65758B"/>
                </a:solidFill>
              </a:rPr>
              <a:t>Verify</a:t>
            </a:r>
            <a:endParaRPr lang="en-US" sz="1200" dirty="0"/>
          </a:p>
        </p:txBody>
      </p:sp>
      <p:sp>
        <p:nvSpPr>
          <p:cNvPr id="16" name="Shape 14"/>
          <p:cNvSpPr/>
          <p:nvPr/>
        </p:nvSpPr>
        <p:spPr>
          <a:xfrm>
            <a:off x="7123176" y="2724912"/>
            <a:ext cx="237744" cy="457200"/>
          </a:xfrm>
          <a:prstGeom prst="chevron">
            <a:avLst/>
          </a:prstGeom>
          <a:solidFill>
            <a:srgbClr val="26C6DA"/>
          </a:solidFill>
          <a:ln w="12700">
            <a:solidFill>
              <a:srgbClr val="26C6DA"/>
            </a:solidFill>
            <a:prstDash val="solid"/>
          </a:ln>
        </p:spPr>
      </p:sp>
      <p:sp>
        <p:nvSpPr>
          <p:cNvPr id="17" name="Shape 15"/>
          <p:cNvSpPr/>
          <p:nvPr/>
        </p:nvSpPr>
        <p:spPr>
          <a:xfrm>
            <a:off x="7452360" y="2331720"/>
            <a:ext cx="1874520" cy="1280160"/>
          </a:xfrm>
          <a:prstGeom prst="roundRect">
            <a:avLst>
              <a:gd name="adj" fmla="val 5714"/>
            </a:avLst>
          </a:prstGeom>
          <a:solidFill>
            <a:srgbClr val="FFFFFF"/>
          </a:solidFill>
          <a:ln w="19050">
            <a:solidFill>
              <a:srgbClr val="F59E0B"/>
            </a:solidFill>
            <a:prstDash val="solid"/>
          </a:ln>
        </p:spPr>
      </p:sp>
      <p:sp>
        <p:nvSpPr>
          <p:cNvPr id="18" name="Text 16"/>
          <p:cNvSpPr/>
          <p:nvPr/>
        </p:nvSpPr>
        <p:spPr>
          <a:xfrm>
            <a:off x="7680960" y="2651760"/>
            <a:ext cx="1417320" cy="274320"/>
          </a:xfrm>
          <a:prstGeom prst="rect">
            <a:avLst/>
          </a:prstGeom>
          <a:noFill/>
          <a:ln/>
        </p:spPr>
        <p:txBody>
          <a:bodyPr wrap="square" lIns="0" tIns="0" rIns="0" bIns="0" rtlCol="0" anchor="ctr"/>
          <a:lstStyle/>
          <a:p>
            <a:pPr algn="ctr" indent="0" marL="0">
              <a:buNone/>
            </a:pPr>
            <a:r>
              <a:rPr lang="en-US" sz="2200" b="1" dirty="0">
                <a:solidFill>
                  <a:srgbClr val="F59E0B"/>
                </a:solidFill>
              </a:rPr>
              <a:t>WiX</a:t>
            </a:r>
            <a:endParaRPr lang="en-US" sz="2200" dirty="0"/>
          </a:p>
        </p:txBody>
      </p:sp>
      <p:sp>
        <p:nvSpPr>
          <p:cNvPr id="19" name="Text 17"/>
          <p:cNvSpPr/>
          <p:nvPr/>
        </p:nvSpPr>
        <p:spPr>
          <a:xfrm>
            <a:off x="7680960" y="3127248"/>
            <a:ext cx="1417320" cy="201168"/>
          </a:xfrm>
          <a:prstGeom prst="rect">
            <a:avLst/>
          </a:prstGeom>
          <a:noFill/>
          <a:ln/>
        </p:spPr>
        <p:txBody>
          <a:bodyPr wrap="square" lIns="0" tIns="0" rIns="0" bIns="0" rtlCol="0" anchor="ctr"/>
          <a:lstStyle/>
          <a:p>
            <a:pPr algn="ctr" indent="0" marL="0">
              <a:buNone/>
            </a:pPr>
            <a:r>
              <a:rPr lang="en-US" sz="1200" dirty="0">
                <a:solidFill>
                  <a:srgbClr val="65758B"/>
                </a:solidFill>
              </a:rPr>
              <a:t>Package</a:t>
            </a:r>
            <a:endParaRPr lang="en-US" sz="1200" dirty="0"/>
          </a:p>
        </p:txBody>
      </p:sp>
      <p:sp>
        <p:nvSpPr>
          <p:cNvPr id="20" name="Shape 18"/>
          <p:cNvSpPr/>
          <p:nvPr/>
        </p:nvSpPr>
        <p:spPr>
          <a:xfrm>
            <a:off x="9409176" y="2724912"/>
            <a:ext cx="237744" cy="457200"/>
          </a:xfrm>
          <a:prstGeom prst="chevron">
            <a:avLst/>
          </a:prstGeom>
          <a:solidFill>
            <a:srgbClr val="26C6DA"/>
          </a:solidFill>
          <a:ln w="12700">
            <a:solidFill>
              <a:srgbClr val="26C6DA"/>
            </a:solidFill>
            <a:prstDash val="solid"/>
          </a:ln>
        </p:spPr>
      </p:sp>
      <p:sp>
        <p:nvSpPr>
          <p:cNvPr id="21" name="Shape 19"/>
          <p:cNvSpPr/>
          <p:nvPr/>
        </p:nvSpPr>
        <p:spPr>
          <a:xfrm>
            <a:off x="9738360" y="2331720"/>
            <a:ext cx="1874520" cy="1280160"/>
          </a:xfrm>
          <a:prstGeom prst="roundRect">
            <a:avLst>
              <a:gd name="adj" fmla="val 5714"/>
            </a:avLst>
          </a:prstGeom>
          <a:solidFill>
            <a:srgbClr val="FFFFFF"/>
          </a:solidFill>
          <a:ln w="19050">
            <a:solidFill>
              <a:srgbClr val="E5484D"/>
            </a:solidFill>
            <a:prstDash val="solid"/>
          </a:ln>
        </p:spPr>
      </p:sp>
      <p:sp>
        <p:nvSpPr>
          <p:cNvPr id="22" name="Text 20"/>
          <p:cNvSpPr/>
          <p:nvPr/>
        </p:nvSpPr>
        <p:spPr>
          <a:xfrm>
            <a:off x="9966960" y="2651760"/>
            <a:ext cx="1417320" cy="274320"/>
          </a:xfrm>
          <a:prstGeom prst="rect">
            <a:avLst/>
          </a:prstGeom>
          <a:noFill/>
          <a:ln/>
        </p:spPr>
        <p:txBody>
          <a:bodyPr wrap="square" lIns="0" tIns="0" rIns="0" bIns="0" rtlCol="0" anchor="ctr"/>
          <a:lstStyle/>
          <a:p>
            <a:pPr algn="ctr" indent="0" marL="0">
              <a:buNone/>
            </a:pPr>
            <a:r>
              <a:rPr lang="en-US" sz="2200" b="1" dirty="0">
                <a:solidFill>
                  <a:srgbClr val="E5484D"/>
                </a:solidFill>
              </a:rPr>
              <a:t>MSI</a:t>
            </a:r>
            <a:endParaRPr lang="en-US" sz="2200" dirty="0"/>
          </a:p>
        </p:txBody>
      </p:sp>
      <p:sp>
        <p:nvSpPr>
          <p:cNvPr id="23" name="Text 21"/>
          <p:cNvSpPr/>
          <p:nvPr/>
        </p:nvSpPr>
        <p:spPr>
          <a:xfrm>
            <a:off x="9966960" y="3127248"/>
            <a:ext cx="1417320" cy="201168"/>
          </a:xfrm>
          <a:prstGeom prst="rect">
            <a:avLst/>
          </a:prstGeom>
          <a:noFill/>
          <a:ln/>
        </p:spPr>
        <p:txBody>
          <a:bodyPr wrap="square" lIns="0" tIns="0" rIns="0" bIns="0" rtlCol="0" anchor="ctr"/>
          <a:lstStyle/>
          <a:p>
            <a:pPr algn="ctr" indent="0" marL="0">
              <a:buNone/>
            </a:pPr>
            <a:r>
              <a:rPr lang="en-US" sz="1200" dirty="0">
                <a:solidFill>
                  <a:srgbClr val="65758B"/>
                </a:solidFill>
              </a:rPr>
              <a:t>Install</a:t>
            </a:r>
            <a:endParaRPr lang="en-US" sz="1200" dirty="0"/>
          </a:p>
        </p:txBody>
      </p:sp>
      <p:sp>
        <p:nvSpPr>
          <p:cNvPr id="24" name="Text 22"/>
          <p:cNvSpPr/>
          <p:nvPr/>
        </p:nvSpPr>
        <p:spPr>
          <a:xfrm>
            <a:off x="2011680" y="4407408"/>
            <a:ext cx="8183880" cy="502920"/>
          </a:xfrm>
          <a:prstGeom prst="rect">
            <a:avLst/>
          </a:prstGeom>
          <a:solidFill>
            <a:srgbClr val="DFF7F1"/>
          </a:solidFill>
          <a:ln/>
        </p:spPr>
        <p:txBody>
          <a:bodyPr wrap="square" lIns="762" tIns="762" rIns="762" bIns="762" rtlCol="0" anchor="ctr"/>
          <a:lstStyle/>
          <a:p>
            <a:pPr algn="ctr" indent="0" marL="0">
              <a:buNone/>
            </a:pPr>
            <a:r>
              <a:rPr lang="en-US" sz="2000" b="1" dirty="0">
                <a:solidFill>
                  <a:srgbClr val="102A43"/>
                </a:solidFill>
              </a:rPr>
              <a:t>Unit-test the ViewModel without opening a physical WPF window.</a:t>
            </a:r>
            <a:endParaRPr lang="en-US" sz="2000" dirty="0"/>
          </a:p>
        </p:txBody>
      </p:sp>
      <p:sp>
        <p:nvSpPr>
          <p:cNvPr id="25" name="Shape 23"/>
          <p:cNvSpPr/>
          <p:nvPr/>
        </p:nvSpPr>
        <p:spPr>
          <a:xfrm>
            <a:off x="502920" y="6007608"/>
            <a:ext cx="11018520" cy="347472"/>
          </a:xfrm>
          <a:prstGeom prst="roundRect">
            <a:avLst>
              <a:gd name="adj" fmla="val 21053"/>
            </a:avLst>
          </a:prstGeom>
          <a:solidFill>
            <a:srgbClr val="E7EDF5"/>
          </a:solidFill>
          <a:ln w="12700">
            <a:solidFill>
              <a:srgbClr val="E7EDF5"/>
            </a:solidFill>
            <a:prstDash val="solid"/>
          </a:ln>
        </p:spPr>
      </p:sp>
      <p:sp>
        <p:nvSpPr>
          <p:cNvPr id="26" name="Text 24"/>
          <p:cNvSpPr/>
          <p:nvPr/>
        </p:nvSpPr>
        <p:spPr>
          <a:xfrm>
            <a:off x="658368" y="6089904"/>
            <a:ext cx="1188720" cy="164592"/>
          </a:xfrm>
          <a:prstGeom prst="rect">
            <a:avLst/>
          </a:prstGeom>
          <a:noFill/>
          <a:ln/>
        </p:spPr>
        <p:txBody>
          <a:bodyPr wrap="square" lIns="0" tIns="0" rIns="0" bIns="0" rtlCol="0" anchor="ctr"/>
          <a:lstStyle/>
          <a:p>
            <a:pPr indent="0" marL="0">
              <a:buNone/>
            </a:pPr>
            <a:r>
              <a:rPr lang="en-US" sz="1000" b="1" dirty="0">
                <a:solidFill>
                  <a:srgbClr val="1677FF"/>
                </a:solidFill>
              </a:rPr>
              <a:t>07:55–08:15</a:t>
            </a:r>
            <a:endParaRPr lang="en-US" sz="1000" dirty="0"/>
          </a:p>
        </p:txBody>
      </p:sp>
      <p:sp>
        <p:nvSpPr>
          <p:cNvPr id="27" name="Text 25"/>
          <p:cNvSpPr/>
          <p:nvPr/>
        </p:nvSpPr>
        <p:spPr>
          <a:xfrm>
            <a:off x="1874520" y="6089904"/>
            <a:ext cx="4206240" cy="164592"/>
          </a:xfrm>
          <a:prstGeom prst="rect">
            <a:avLst/>
          </a:prstGeom>
          <a:noFill/>
          <a:ln/>
        </p:spPr>
        <p:txBody>
          <a:bodyPr wrap="square" lIns="0" tIns="0" rIns="0" bIns="0" rtlCol="0" anchor="ctr"/>
          <a:lstStyle/>
          <a:p>
            <a:pPr indent="0" marL="0">
              <a:buNone/>
            </a:pPr>
            <a:r>
              <a:rPr lang="en-US" sz="950" dirty="0">
                <a:solidFill>
                  <a:srgbClr val="65758B"/>
                </a:solidFill>
              </a:rPr>
              <a:t>VISUAL  Pipeline flows left to right</a:t>
            </a:r>
            <a:endParaRPr lang="en-US" sz="950" dirty="0"/>
          </a:p>
        </p:txBody>
      </p:sp>
      <p:sp>
        <p:nvSpPr>
          <p:cNvPr id="28" name="Text 26"/>
          <p:cNvSpPr/>
          <p:nvPr/>
        </p:nvSpPr>
        <p:spPr>
          <a:xfrm>
            <a:off x="6172200" y="6089904"/>
            <a:ext cx="4754880" cy="164592"/>
          </a:xfrm>
          <a:prstGeom prst="rect">
            <a:avLst/>
          </a:prstGeom>
          <a:noFill/>
          <a:ln/>
        </p:spPr>
        <p:txBody>
          <a:bodyPr wrap="square" lIns="0" tIns="0" rIns="0" bIns="0" rtlCol="0" anchor="ctr"/>
          <a:lstStyle/>
          <a:p>
            <a:pPr indent="0" marL="0">
              <a:buNone/>
            </a:pPr>
            <a:r>
              <a:rPr lang="en-US" sz="950" dirty="0">
                <a:solidFill>
                  <a:srgbClr val="65758B"/>
                </a:solidFill>
              </a:rPr>
              <a:t>AUDIO  End on production readiness</a:t>
            </a:r>
            <a:endParaRPr lang="en-US" sz="95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pic>
        <p:nvPicPr>
          <p:cNvPr id="2" name="Image 0" descr="/mnt/data/generated_image_5B039C001BE4_01.png">    </p:cNvPr>
          <p:cNvPicPr>
            <a:picLocks noChangeAspect="1"/>
          </p:cNvPicPr>
          <p:nvPr/>
        </p:nvPicPr>
        <p:blipFill>
          <a:blip r:embed="rId1">
            <a:alphaModFix amt="52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623">
              <a:alpha val="78000"/>
            </a:srgbClr>
          </a:solidFill>
          <a:ln w="12700">
            <a:solidFill>
              <a:srgbClr val="0B1623">
                <a:alpha val="0"/>
              </a:srgbClr>
            </a:solidFill>
            <a:prstDash val="solid"/>
          </a:ln>
        </p:spPr>
      </p:sp>
      <p:sp>
        <p:nvSpPr>
          <p:cNvPr id="4" name="Text 1"/>
          <p:cNvSpPr/>
          <p:nvPr/>
        </p:nvSpPr>
        <p:spPr>
          <a:xfrm>
            <a:off x="685800" y="758952"/>
            <a:ext cx="5303520" cy="502920"/>
          </a:xfrm>
          <a:prstGeom prst="rect">
            <a:avLst/>
          </a:prstGeom>
          <a:noFill/>
          <a:ln/>
        </p:spPr>
        <p:txBody>
          <a:bodyPr wrap="square" lIns="0" tIns="0" rIns="0" bIns="0" rtlCol="0" anchor="ctr"/>
          <a:lstStyle/>
          <a:p>
            <a:pPr indent="0" marL="0">
              <a:buNone/>
            </a:pPr>
            <a:r>
              <a:rPr lang="en-US" sz="3400" b="1" dirty="0">
                <a:solidFill>
                  <a:srgbClr val="FFFFFF"/>
                </a:solidFill>
              </a:rPr>
              <a:t>The interview story</a:t>
            </a:r>
            <a:endParaRPr lang="en-US" sz="3400" dirty="0"/>
          </a:p>
        </p:txBody>
      </p:sp>
      <p:sp>
        <p:nvSpPr>
          <p:cNvPr id="5" name="Text 2"/>
          <p:cNvSpPr/>
          <p:nvPr/>
        </p:nvSpPr>
        <p:spPr>
          <a:xfrm>
            <a:off x="713232" y="1572768"/>
            <a:ext cx="4892040" cy="3977640"/>
          </a:xfrm>
          <a:prstGeom prst="rect">
            <a:avLst/>
          </a:prstGeom>
          <a:noFill/>
          <a:ln/>
        </p:spPr>
        <p:txBody>
          <a:bodyPr wrap="square" lIns="0" tIns="0" rIns="0" bIns="0" rtlCol="0" anchor="ctr">
            <a:normAutofit/>
          </a:bodyPr>
          <a:lstStyle/>
          <a:p>
            <a:pPr indent="0" marL="0">
              <a:buNone/>
            </a:pPr>
            <a:r>
              <a:rPr lang="en-US" sz="1900" b="1" dirty="0">
                <a:solidFill>
                  <a:srgbClr val="E6F2FA"/>
                </a:solidFill>
              </a:rPr>
              <a:t>WPF displays it</a:t>
            </a:r>
            <a:endParaRPr lang="en-US" sz="1900" dirty="0"/>
          </a:p>
          <a:p>
            <a:pPr indent="0" marL="0">
              <a:buNone/>
            </a:pPr>
            <a:r>
              <a:rPr lang="en-US" sz="1900" b="1" dirty="0">
                <a:solidFill>
                  <a:srgbClr val="E6F2FA"/>
                </a:solidFill>
              </a:rPr>
              <a:t>MVVM organizes it</a:t>
            </a:r>
            <a:endParaRPr lang="en-US" sz="1900" dirty="0"/>
          </a:p>
          <a:p>
            <a:pPr indent="0" marL="0">
              <a:buNone/>
            </a:pPr>
            <a:r>
              <a:rPr lang="en-US" sz="1900" b="1" dirty="0">
                <a:solidFill>
                  <a:srgbClr val="E6F2FA"/>
                </a:solidFill>
              </a:rPr>
              <a:t>Async keeps it responsive</a:t>
            </a:r>
            <a:endParaRPr lang="en-US" sz="1900" dirty="0"/>
          </a:p>
          <a:p>
            <a:pPr indent="0" marL="0">
              <a:buNone/>
            </a:pPr>
            <a:r>
              <a:rPr lang="en-US" sz="1900" b="1" dirty="0">
                <a:solidFill>
                  <a:srgbClr val="E6F2FA"/>
                </a:solidFill>
              </a:rPr>
              <a:t>Dispatcher protects UI access</a:t>
            </a:r>
            <a:endParaRPr lang="en-US" sz="1900" dirty="0"/>
          </a:p>
          <a:p>
            <a:pPr indent="0" marL="0">
              <a:buNone/>
            </a:pPr>
            <a:r>
              <a:rPr lang="en-US" sz="1900" b="1" dirty="0">
                <a:solidFill>
                  <a:srgbClr val="E6F2FA"/>
                </a:solidFill>
              </a:rPr>
              <a:t>CefSharp browses it</a:t>
            </a:r>
            <a:endParaRPr lang="en-US" sz="1900" dirty="0"/>
          </a:p>
          <a:p>
            <a:pPr indent="0" marL="0">
              <a:buNone/>
            </a:pPr>
            <a:r>
              <a:rPr lang="en-US" sz="1900" b="1" dirty="0">
                <a:solidFill>
                  <a:srgbClr val="E6F2FA"/>
                </a:solidFill>
              </a:rPr>
              <a:t>TLS transports it securely</a:t>
            </a:r>
            <a:endParaRPr lang="en-US" sz="1900" dirty="0"/>
          </a:p>
          <a:p>
            <a:pPr indent="0" marL="0">
              <a:buNone/>
            </a:pPr>
            <a:r>
              <a:rPr lang="en-US" sz="1900" b="1" dirty="0">
                <a:solidFill>
                  <a:srgbClr val="E6F2FA"/>
                </a:solidFill>
              </a:rPr>
              <a:t>Windows + native code integrate it</a:t>
            </a:r>
            <a:endParaRPr lang="en-US" sz="1900" dirty="0"/>
          </a:p>
          <a:p>
            <a:pPr indent="0" marL="0">
              <a:buNone/>
            </a:pPr>
            <a:r>
              <a:rPr lang="en-US" sz="1900" b="1" dirty="0">
                <a:solidFill>
                  <a:srgbClr val="E6F2FA"/>
                </a:solidFill>
              </a:rPr>
              <a:t>Tests verify it</a:t>
            </a:r>
            <a:endParaRPr lang="en-US" sz="1900" dirty="0"/>
          </a:p>
          <a:p>
            <a:pPr indent="0" marL="0">
              <a:buNone/>
            </a:pPr>
            <a:r>
              <a:rPr lang="en-US" sz="1900" b="1" dirty="0">
                <a:solidFill>
                  <a:srgbClr val="E6F2FA"/>
                </a:solidFill>
              </a:rPr>
              <a:t>WiX and MSI deploy it</a:t>
            </a:r>
            <a:endParaRPr lang="en-US" sz="1900" dirty="0"/>
          </a:p>
        </p:txBody>
      </p:sp>
      <p:sp>
        <p:nvSpPr>
          <p:cNvPr id="6" name="Shape 3"/>
          <p:cNvSpPr/>
          <p:nvPr/>
        </p:nvSpPr>
        <p:spPr>
          <a:xfrm>
            <a:off x="6400800" y="1874520"/>
            <a:ext cx="4892040" cy="2560320"/>
          </a:xfrm>
          <a:prstGeom prst="roundRect">
            <a:avLst>
              <a:gd name="adj" fmla="val 3571"/>
            </a:avLst>
          </a:prstGeom>
          <a:solidFill>
            <a:srgbClr val="0B1623">
              <a:alpha val="82000"/>
            </a:srgbClr>
          </a:solidFill>
          <a:ln w="19050">
            <a:solidFill>
              <a:srgbClr val="26C6DA"/>
            </a:solidFill>
            <a:prstDash val="solid"/>
          </a:ln>
        </p:spPr>
      </p:sp>
      <p:sp>
        <p:nvSpPr>
          <p:cNvPr id="7" name="Text 4"/>
          <p:cNvSpPr/>
          <p:nvPr/>
        </p:nvSpPr>
        <p:spPr>
          <a:xfrm>
            <a:off x="6748272" y="2267712"/>
            <a:ext cx="4224528" cy="1764792"/>
          </a:xfrm>
          <a:prstGeom prst="rect">
            <a:avLst/>
          </a:prstGeom>
          <a:noFill/>
          <a:ln/>
        </p:spPr>
        <p:txBody>
          <a:bodyPr wrap="square" lIns="381" tIns="381" rIns="381" bIns="381" rtlCol="0" anchor="ctr">
            <a:normAutofit/>
          </a:bodyPr>
          <a:lstStyle/>
          <a:p>
            <a:pPr algn="ctr" indent="0" marL="0">
              <a:buNone/>
            </a:pPr>
            <a:r>
              <a:rPr lang="en-US" sz="1700" i="1" dirty="0">
                <a:solidFill>
                  <a:srgbClr val="FFFFFF"/>
                </a:solidFill>
              </a:rPr>
              <a:t>“I would use WPF with MVVM, keep long-running operations asynchronous, marshal UI work through the Dispatcher, embed Chromium with CefSharp, separate system responsibilities behind services and native integrations, secure network traffic with TLS, and deliver through automated testing and Windows packaging.”</a:t>
            </a:r>
            <a:endParaRPr lang="en-US" sz="1700" dirty="0"/>
          </a:p>
        </p:txBody>
      </p:sp>
      <p:sp>
        <p:nvSpPr>
          <p:cNvPr id="8" name="Text 5"/>
          <p:cNvSpPr/>
          <p:nvPr/>
        </p:nvSpPr>
        <p:spPr>
          <a:xfrm>
            <a:off x="9802368" y="6080760"/>
            <a:ext cx="1508760" cy="274320"/>
          </a:xfrm>
          <a:prstGeom prst="rect">
            <a:avLst/>
          </a:prstGeom>
          <a:noFill/>
          <a:ln/>
        </p:spPr>
        <p:txBody>
          <a:bodyPr wrap="square" lIns="0" tIns="0" rIns="0" bIns="0" rtlCol="0" anchor="ctr"/>
          <a:lstStyle/>
          <a:p>
            <a:pPr algn="r" indent="0" marL="0">
              <a:buNone/>
            </a:pPr>
            <a:r>
              <a:rPr lang="en-US" sz="1200" b="1" dirty="0">
                <a:solidFill>
                  <a:srgbClr val="26C6DA"/>
                </a:solidFill>
              </a:rPr>
              <a:t>END  •  08:20</a:t>
            </a:r>
            <a:endParaRPr lang="en-US" sz="1200" dirty="0"/>
          </a:p>
        </p:txBody>
      </p:sp>
      <p:sp>
        <p:nvSpPr>
          <p:cNvPr id="25" name="Slide Number Placeholder 0"/>
          <p:cNvSpPr>
            <a:spLocks noGrp="1"/>
          </p:cNvSpPr>
          <p:nvPr>
            <p:ph type="sldNum" sz="quarter" idx="4294967295"/>
          </p:nvPr>
        </p:nvSpPr>
        <p:spPr>
          <a:xfrm>
            <a:off x="11658600" y="6464808"/>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Microsoft</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.NET + WPF SecureExamClient Video Storyboard</dc:title>
  <dc:subject>Video storyboard and narration timing</dc:subject>
  <dc:creator>AmanS Rai</dc:creator>
  <lastModifiedBy>AmanS Rai</lastModifiedBy>
  <revision>1</revision>
  <dcterms:created xsi:type="dcterms:W3CDTF">2026-10-26T12:07:46.8731484Z</dcterms:created>
  <dcterms:modified xsi:type="dcterms:W3CDTF">2026-10-26T12:07:46.8731484Z</dcterms:modified>
</coreProperties>
</file>